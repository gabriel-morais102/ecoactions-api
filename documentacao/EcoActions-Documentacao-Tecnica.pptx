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e79fed7d7474e" /><Relationship Type="http://schemas.openxmlformats.org/officeDocument/2006/relationships/extended-properties" Target="/docProps/app.xml" Id="R8be44694e2ec4f5c" /><Relationship Type="http://schemas.openxmlformats.org/officeDocument/2006/relationships/officeDocument" Target="/ppt/presentation.xml" Id="R4ca2bc6bf1c843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22df15c2d24284"/>
  </p:sldMasterIdLst>
  <p:notesMasterIdLst>
    <p:notesMasterId xmlns:r="http://schemas.openxmlformats.org/officeDocument/2006/relationships" r:id="R7ac8b85d79c5425b"/>
  </p:notesMasterIdLst>
  <p:sldIdLst>
    <p:sldId xmlns:r="http://schemas.openxmlformats.org/officeDocument/2006/relationships" id="256" r:id="Raf27b2890bcf4dac"/>
    <p:sldId xmlns:r="http://schemas.openxmlformats.org/officeDocument/2006/relationships" id="257" r:id="R303d8fc8118d466d"/>
    <p:sldId xmlns:r="http://schemas.openxmlformats.org/officeDocument/2006/relationships" id="258" r:id="Rab2acdc4d9fa4dd5"/>
    <p:sldId xmlns:r="http://schemas.openxmlformats.org/officeDocument/2006/relationships" id="259" r:id="R082a1f9cb46a434a"/>
    <p:sldId xmlns:r="http://schemas.openxmlformats.org/officeDocument/2006/relationships" id="260" r:id="Rcc30de4879334474"/>
    <p:sldId xmlns:r="http://schemas.openxmlformats.org/officeDocument/2006/relationships" id="261" r:id="Ra14e7187358f47a9"/>
    <p:sldId xmlns:r="http://schemas.openxmlformats.org/officeDocument/2006/relationships" id="262" r:id="Rea9c6c11b3d04aea"/>
    <p:sldId xmlns:r="http://schemas.openxmlformats.org/officeDocument/2006/relationships" id="263" r:id="R4eeffdda4f1c4235"/>
    <p:sldId xmlns:r="http://schemas.openxmlformats.org/officeDocument/2006/relationships" id="264" r:id="R5f803f542cb645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3f6c56e97a4be4" /><Relationship Type="http://schemas.openxmlformats.org/officeDocument/2006/relationships/slideMaster" Target="/ppt/slideMasters/slideMaster1.xml" Id="R4922df15c2d24284" /><Relationship Type="http://schemas.openxmlformats.org/officeDocument/2006/relationships/notesMaster" Target="/ppt/notesMasters/notesMaster1.xml" Id="R7ac8b85d79c5425b" /><Relationship Type="http://schemas.openxmlformats.org/officeDocument/2006/relationships/presProps" Target="/ppt/presProps.xml" Id="R951ec0b45ec04db4" /><Relationship Type="http://schemas.openxmlformats.org/officeDocument/2006/relationships/tableStyles" Target="/ppt/tableStyles.xml" Id="R73bb4ea0988f4e56" /><Relationship Type="http://schemas.openxmlformats.org/officeDocument/2006/relationships/slide" Target="/ppt/slides/slide1.xml" Id="Raf27b2890bcf4dac" /><Relationship Type="http://schemas.openxmlformats.org/officeDocument/2006/relationships/slide" Target="/ppt/slides/slide2.xml" Id="R303d8fc8118d466d" /><Relationship Type="http://schemas.openxmlformats.org/officeDocument/2006/relationships/slide" Target="/ppt/slides/slide3.xml" Id="Rab2acdc4d9fa4dd5" /><Relationship Type="http://schemas.openxmlformats.org/officeDocument/2006/relationships/slide" Target="/ppt/slides/slide4.xml" Id="R082a1f9cb46a434a" /><Relationship Type="http://schemas.openxmlformats.org/officeDocument/2006/relationships/slide" Target="/ppt/slides/slide5.xml" Id="Rcc30de4879334474" /><Relationship Type="http://schemas.openxmlformats.org/officeDocument/2006/relationships/slide" Target="/ppt/slides/slide6.xml" Id="Ra14e7187358f47a9" /><Relationship Type="http://schemas.openxmlformats.org/officeDocument/2006/relationships/slide" Target="/ppt/slides/slide7.xml" Id="Rea9c6c11b3d04aea" /><Relationship Type="http://schemas.openxmlformats.org/officeDocument/2006/relationships/slide" Target="/ppt/slides/slide8.xml" Id="R4eeffdda4f1c4235" /><Relationship Type="http://schemas.openxmlformats.org/officeDocument/2006/relationships/slide" Target="/ppt/slides/slide9.xml" Id="R5f803f542cb645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0295285cc141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15a9d71b964b93" /><Relationship Type="http://schemas.openxmlformats.org/officeDocument/2006/relationships/notesMaster" Target="/ppt/notesMasters/notesMaster1.xml" Id="Re260b5e40621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2ac8f7af314a37" /><Relationship Type="http://schemas.openxmlformats.org/officeDocument/2006/relationships/notesMaster" Target="/ppt/notesMasters/notesMaster1.xml" Id="R94e938e2b37e4f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d3c25f481e4344" /><Relationship Type="http://schemas.openxmlformats.org/officeDocument/2006/relationships/notesMaster" Target="/ppt/notesMasters/notesMaster1.xml" Id="Re701c4f168914e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b0301192834d99" /><Relationship Type="http://schemas.openxmlformats.org/officeDocument/2006/relationships/notesMaster" Target="/ppt/notesMasters/notesMaster1.xml" Id="R6d20e4505f4840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00380746264b8b" /><Relationship Type="http://schemas.openxmlformats.org/officeDocument/2006/relationships/notesMaster" Target="/ppt/notesMasters/notesMaster1.xml" Id="R19b54fcec34e4e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c2566d3b4f43b2" /><Relationship Type="http://schemas.openxmlformats.org/officeDocument/2006/relationships/notesMaster" Target="/ppt/notesMasters/notesMaster1.xml" Id="Rad650ebc100c43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b6ee2fde5840d6" /><Relationship Type="http://schemas.openxmlformats.org/officeDocument/2006/relationships/notesMaster" Target="/ppt/notesMasters/notesMaster1.xml" Id="R78078e641d2c46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8d7907dbbc42eb" /><Relationship Type="http://schemas.openxmlformats.org/officeDocument/2006/relationships/notesMaster" Target="/ppt/notesMasters/notesMaster1.xml" Id="R4d5201756dfd41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029822743b42ed" /><Relationship Type="http://schemas.openxmlformats.org/officeDocument/2006/relationships/notesMaster" Target="/ppt/notesMasters/notesMaster1.xml" Id="R85442aeb987348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5b9a9f91242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c56348d374f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d3189ea0543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ff0b266504a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40a66d99c4a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a30fd75bd4e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AD1311-18C7-434B-9C18-C4695B7E4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58ABF7-A416-4B8C-8639-8E24CBED37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BD6B22-4B34-40FD-BFE1-303446EAC2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6F394E-9392-4861-8B9F-4EADDDEF95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D620C7-880D-4BAF-BE25-46F4A3EAAE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F67113-A857-42E0-8BA3-D3ECB1355E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FD0679-A6C7-4554-82DE-A1A56C6BD4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9077B6-AEC9-41ED-8C1B-CF0DB42249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60AA1D-F3ED-4FF7-B613-B8ED8B396C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CFE592-D96E-4770-AF10-850243E700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64ae0088d4490c" /><Relationship Type="http://schemas.openxmlformats.org/officeDocument/2006/relationships/slideLayout" Target="/ppt/slideLayouts/slideLayout1.xml" Id="R50d247a6d08946de" /><Relationship Type="http://schemas.openxmlformats.org/officeDocument/2006/relationships/slideLayout" Target="/ppt/slideLayouts/slideLayout2.xml" Id="Ra48ba21edd3744a6" /><Relationship Type="http://schemas.openxmlformats.org/officeDocument/2006/relationships/slideLayout" Target="/ppt/slideLayouts/slideLayout3.xml" Id="Racbd61cc698c443b" /><Relationship Type="http://schemas.openxmlformats.org/officeDocument/2006/relationships/slideLayout" Target="/ppt/slideLayouts/slideLayout4.xml" Id="R155a6243697740f4" /><Relationship Type="http://schemas.openxmlformats.org/officeDocument/2006/relationships/slideLayout" Target="/ppt/slideLayouts/slideLayout5.xml" Id="R9de82dd01531432e" /><Relationship Type="http://schemas.openxmlformats.org/officeDocument/2006/relationships/slideLayout" Target="/ppt/slideLayouts/slideLayout6.xml" Id="Rea399b36329840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d247a6d08946de"/>
    <p:sldLayoutId xmlns:r="http://schemas.openxmlformats.org/officeDocument/2006/relationships" id="2147483650" r:id="Ra48ba21edd3744a6"/>
    <p:sldLayoutId xmlns:r="http://schemas.openxmlformats.org/officeDocument/2006/relationships" id="2147483651" r:id="Racbd61cc698c443b"/>
    <p:sldLayoutId xmlns:r="http://schemas.openxmlformats.org/officeDocument/2006/relationships" id="2147483652" r:id="R155a6243697740f4"/>
    <p:sldLayoutId xmlns:r="http://schemas.openxmlformats.org/officeDocument/2006/relationships" id="2147483653" r:id="R9de82dd01531432e"/>
    <p:sldLayoutId xmlns:r="http://schemas.openxmlformats.org/officeDocument/2006/relationships" id="2147483654" r:id="Rea399b36329840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116b4616a4805" /><Relationship Type="http://schemas.openxmlformats.org/officeDocument/2006/relationships/image" Target="/ppt/media/image.png" Id="R99afea984aad4611" /><Relationship Type="http://schemas.openxmlformats.org/officeDocument/2006/relationships/notesSlide" Target="/ppt/notesSlides/notesSlide1.xml" Id="R60e89b2225ee43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8c3433841489a" /><Relationship Type="http://schemas.openxmlformats.org/officeDocument/2006/relationships/notesSlide" Target="/ppt/notesSlides/notesSlide2.xml" Id="R8dadf2983f6a4a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afb71b0dcc4eae" /><Relationship Type="http://schemas.openxmlformats.org/officeDocument/2006/relationships/notesSlide" Target="/ppt/notesSlides/notesSlide3.xml" Id="R2fbfd98e2db341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610a916e44df3" /><Relationship Type="http://schemas.openxmlformats.org/officeDocument/2006/relationships/notesSlide" Target="/ppt/notesSlides/notesSlide4.xml" Id="R9c9f47e2e61140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285e2f7824664" /><Relationship Type="http://schemas.openxmlformats.org/officeDocument/2006/relationships/image" Target="/ppt/media/image2.png" Id="R44140b4472dc41a5" /><Relationship Type="http://schemas.openxmlformats.org/officeDocument/2006/relationships/notesSlide" Target="/ppt/notesSlides/notesSlide5.xml" Id="R8757c277664145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4aaa07ee7145ad" /><Relationship Type="http://schemas.openxmlformats.org/officeDocument/2006/relationships/image" Target="/ppt/media/image3.png" Id="Rb80b43cea1444df5" /><Relationship Type="http://schemas.openxmlformats.org/officeDocument/2006/relationships/notesSlide" Target="/ppt/notesSlides/notesSlide6.xml" Id="Raaae4f34ba4a47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11aaccfb14cb2" /><Relationship Type="http://schemas.openxmlformats.org/officeDocument/2006/relationships/image" Target="/ppt/media/image4.png" Id="Rac971e1a423445f3" /><Relationship Type="http://schemas.openxmlformats.org/officeDocument/2006/relationships/image" Target="/ppt/media/image5.png" Id="R600b35ab4cfb4e9a" /><Relationship Type="http://schemas.openxmlformats.org/officeDocument/2006/relationships/notesSlide" Target="/ppt/notesSlides/notesSlide7.xml" Id="Rb937e5f3e4b545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cc829019724fdf" /><Relationship Type="http://schemas.openxmlformats.org/officeDocument/2006/relationships/notesSlide" Target="/ppt/notesSlides/notesSlide8.xml" Id="Rc551be7b0a624c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ef9ebdf1a40ce" /><Relationship Type="http://schemas.openxmlformats.org/officeDocument/2006/relationships/notesSlide" Target="/ppt/notesSlides/notesSlide9.xml" Id="R389f700af2c846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18E04-A227-40A9-BAEA-6870C20B23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fea984aad46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99E83-42BE-44CB-9EC5-8F38327F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2D392"/>
                </a:solidFill>
                <a:latin typeface="Arial"/>
                <a:ea typeface="Arial"/>
                <a:cs typeface="Arial"/>
              </a:rPr>
              <a:t>ATIVIDADE AVALIATIVA  |  DEVOPS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F2626-5B8B-4407-840D-369E309E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EcoActions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48A32-5EE4-4668-A1EB-A2349C06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04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DevOps aplicado a cidades ESG inteligentes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43064-4256-4643-81C8-0FD9816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81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C22CD-A862-4E98-99F5-ED6A40B1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Integrante(s): NOME(S) E RM(S)</a:t>
            </a:r>
          </a:p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Turma: PREENCHER ANTES DA ENTREGA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9726C-FB4F-4FFA-BEB2-EF545B27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EA3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8EA3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EA3B7"/>
                </a:solidFill>
                <a:latin typeface="Arial"/>
                <a:ea typeface="Arial"/>
                <a:cs typeface="Arial"/>
              </a:rPr>
              <a:t>Java 17  |  Spring Boot  |  MongoDB  |  Docker  | 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635208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A22FA-5FBA-4049-8CCD-2913527A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14A54-D30F-4B73-B3C9-2AB581AB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Problema ESG e proposta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1D40B-351C-4181-B7A9-04411057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67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Gestão rastreável do descarte até a destinação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D8DCF-F368-426E-B46E-3EBE7B53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7C7AB-0A65-4CC6-8249-1831EC64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171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235"/>
                </a:solidFill>
                <a:latin typeface="Arial"/>
                <a:ea typeface="Arial"/>
                <a:cs typeface="Arial"/>
              </a:rPr>
              <a:t>A gestão de resíduos urbanos exige dados consistentes sobre materiais, pontos de coleta e destinações. O EcoActions reúne essas informações em uma API REST e cria alertas quando um ponto precisa de atenção.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38A61-28CB-4F20-9D74-A889BE2D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A aplicação apoia decisões ambientais sem misturar dados de homologação e produção.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5C3FA-D274-4D86-95C7-F7A30C61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43050"/>
            <a:ext cx="567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BD502-CE98-4DE2-8CC3-CAECE72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573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1E8FB-A8BB-46A6-A360-FA168ABD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192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Resíduo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BE581-2EDB-4C69-8858-B4E5CB8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567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77D03-B1DA-41A4-A5EB-9E95963A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146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D3AFF-DA92-4A98-87E0-1561F6E8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>
            <a:def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Ponto de</a:t>
            </a:r>
          </a:p>
          <a:p xmlns:a="http://schemas.openxmlformats.org/drawingml/2006/main">
            <a: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coleta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A1D15-EAC1-409C-BDD1-A1DFB642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57550"/>
            <a:ext cx="567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CE32D-BD7A-4A4F-A719-BD0C7359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71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1E993-8E33-495A-8094-A62334DD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Coleta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539C9-EA1B-4AB8-B706-B637668C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14800"/>
            <a:ext cx="567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8E0CD-FD8C-4E3F-8912-D0609A5C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29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27165-F9E9-4A74-931C-AFF7A3B7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91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Destinação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72B62-F6FF-4266-96D9-133DACFB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72050"/>
            <a:ext cx="5676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6F8F1"/>
          </a:solidFill>
          <a:ln xmlns:a="http://schemas.openxmlformats.org/drawingml/2006/main" w="19050">
            <a:solidFill>
              <a:srgbClr val="42D3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8B2AD-2A10-4DC3-98F8-30BBBC88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863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94DF4-BD95-407F-9015-6B95FCB5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482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Alerta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A5EAA-A439-4289-92C7-5BA5B03D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EcoActions API  |  DevOps aplicado a cidades ESG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4130F-84B1-44E3-BD5A-D859D7ED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7009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D8F2E-7C8A-43C0-890A-4E363BC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05757-86C4-4C31-A97A-1D2AFCC3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Arquitetura da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AB7EA-1EEF-49D1-8987-1CFAF881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67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Aplicação e banco orquestrados pelo Docker Compose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F344F-9338-47B2-90A2-1340B254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73A72-8F30-4FBA-85E9-B5ED8BCE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000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0">
            <a:solidFill>
              <a:srgbClr val="122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F3A61-3CC4-4D9E-AA0D-3C07B6D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Cliente HTTP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EAA48-8FDF-4E9F-BFDB-9DFE59C0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57400"/>
            <a:ext cx="285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87A5A"/>
          </a:solidFill>
          <a:ln xmlns:a="http://schemas.openxmlformats.org/drawingml/2006/main" w="0">
            <a:solidFill>
              <a:srgbClr val="187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F235F-DE5F-4857-9977-FB878624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57400"/>
            <a:ext cx="2857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EcoActions API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B58C1-CC47-4907-B774-FF6A5542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33625"/>
            <a:ext cx="2381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56A86"/>
          </a:solidFill>
          <a:ln xmlns:a="http://schemas.openxmlformats.org/drawingml/2006/main" w="0">
            <a:solidFill>
              <a:srgbClr val="256A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41B4D-B248-49FD-99E9-95D2D01D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336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FCD71-9393-42AB-82DE-78CCA1A8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0325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2E8AC-D5B7-4B51-BBE6-770DBB01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00325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FD5F3-2867-42D6-9679-6F037D7F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HTTP Basic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F35D7-C47C-4DD4-A3BF-F2423F74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050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Spring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16628-36FD-40CE-B34D-D26AD41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Variáveis de ambiente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B8285-59B3-45BE-A19B-02742356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Credenciais e portas fora do código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0961D-89E8-456F-B368-79606A32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Rede dedicada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FD081-59E0-4A70-BEEA-F6188D1C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148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Comunicação interna entre API e banco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37AE0-A973-4E34-9DAE-F153CD22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Volume persistente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9ACBF-ACC0-4985-98BB-3561C9EB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148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Dados preservados entre reinícios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CB1D8-D3A9-4E1E-9A00-D7C33146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57850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Cada ambiente recebe rede, volume, banco e portas próprios.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13DCC-FC0E-45C3-8AF6-3474F7C7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EcoActions API  |  DevOps aplicado a cidades ESG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51B96-A389-4A49-94DB-DFEDACD7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0003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79361-7FCF-40A4-8368-87BCD7D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39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9FD1A-7A8F-4222-8B4A-34FC18E2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 CI/CD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DACAF-231A-4DCF-BAD2-454B63FF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67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8EA3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8EA3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EA3B7"/>
                </a:solidFill>
                <a:latin typeface="Arial"/>
                <a:ea typeface="Arial"/>
                <a:cs typeface="Arial"/>
              </a:rPr>
              <a:t>GitHub Actions bloqueia a promoção quando build, testes ou health check falham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7A3C5-5D51-43F9-B9C3-E70E0B1C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67704-DB31-4A17-B0CF-79ABD809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Pull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62E0E-F996-405C-A9A7-C699090F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build, testes e imagem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9A3E9-F61F-486C-9449-944054C5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81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392"/>
                </a:solidFill>
                <a:latin typeface="Arial"/>
                <a:ea typeface="Arial"/>
                <a:cs typeface="Arial"/>
              </a:rPr>
              <a:t>main ou execução 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B3C1C-254D-439F-9B49-BD737B61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CI completa e deploy sequencial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E6527-F596-4173-9501-CF7F0B1D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2476500" cy="2628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194F9-0E24-4CE2-A39C-3934D6DE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6E267-5958-43C4-B328-578790FF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e testes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8678A-9040-42AA-8E64-D371C780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Java 17</a:t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Maven Verify</a:t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9 testes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88D33-7CAC-4BB8-9713-4CA0AAB6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2476500" cy="2628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217A0-491E-4BB8-9E39-4E788BAE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4208B-FFDE-4AB0-BEED-1118E0BD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Imagem Docker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93D05-68FF-448F-BB53-A797E9F1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576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Build multi-stage</a:t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Artefato imutável</a:t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Usuário não root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C3D8A-D395-4833-ABC1-C32F26CF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2476500" cy="2628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19050">
            <a:solidFill>
              <a:srgbClr val="42D39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339BB-78D0-486E-B76F-4DE99070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2D39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9B783-48DF-426A-A829-25CCFA7C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7C935-7924-4F06-ABC4-54E1F268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576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Docker Compose</a:t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Health check</a:t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Porta 8081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936C6-53E8-4A63-80EF-B04E7B9A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476500" cy="26289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19050">
            <a:solidFill>
              <a:srgbClr val="42D3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F0C66-0C01-4E06-A6D1-B3BC0C04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19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2D39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72CB5-4CFF-4282-8F99-4EF8A4FA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718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8B2AB-1C02-4B9E-B4BF-54BCB4F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576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Mesma imagem</a:t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Após staging</a:t>
            </a:r>
          </a:p>
          <a:p xmlns:a="http://schemas.openxmlformats.org/drawingml/2006/main">
            <a:pPr algn="l">
              <a:defRPr sz="1350" b="0">
                <a:solidFill>
                  <a:srgbClr val="D8E2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E2EE"/>
                </a:solidFill>
                <a:latin typeface="Arial"/>
                <a:ea typeface="Arial"/>
                <a:cs typeface="Arial"/>
              </a:rPr>
              <a:t>Porta 8082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D863E-0F6D-4EFC-BCA3-E23EFB3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53100"/>
            <a:ext cx="769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C95D"/>
                </a:solidFill>
                <a:latin typeface="Arial"/>
                <a:ea typeface="Arial"/>
                <a:cs typeface="Arial"/>
              </a:rPr>
              <a:t>Produção depende do deploy de staging aprovado.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53FBC-22E5-4B04-AD77-C6F5FC1B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8EA3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8EA3B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EA3B7"/>
                </a:solidFill>
                <a:latin typeface="Arial"/>
                <a:ea typeface="Arial"/>
                <a:cs typeface="Arial"/>
              </a:rPr>
              <a:t>EcoActions API  |  DevOps aplicado a cidades ESG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C48CC-9B8A-48E7-B220-69AF28BE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2D39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0312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25D3A-B345-4A70-9695-722E3227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35854-35E9-4733-86BD-4AF9D72C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Containerização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94EDB-2E36-4B59-9999-3674B72D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67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A imagem final contém somente o necessário para executar a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293A4-B72A-4930-9D56-DEC25708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A6ADD-721F-4EE8-AA94-41F02BC7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Dockerfile multi-stage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D242C-6921-493D-B557-E952CC93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7147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Build</a:t>
            </a:r>
          </a:p>
          <a:p xmlns:a="http://schemas.openxmlformats.org/drawingml/2006/main">
            <a:pPr algn="l">
              <a:defRPr sz="157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JDK 17 e Maven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Runtime</a:t>
            </a:r>
          </a:p>
          <a:p xmlns:a="http://schemas.openxmlformats.org/drawingml/2006/main">
            <a:pPr algn="l">
              <a:defRPr sz="157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JRE 17 e JAR da aplicação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Segurança</a:t>
            </a:r>
          </a:p>
          <a:p xmlns:a="http://schemas.openxmlformats.org/drawingml/2006/main">
            <a:pPr algn="l">
              <a:defRPr sz="157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Usuário spring:spring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Operação</a:t>
            </a:r>
          </a:p>
          <a:p xmlns:a="http://schemas.openxmlformats.org/drawingml/2006/main">
            <a:pPr algn="l">
              <a:defRPr sz="1575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Health check em /api/health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6814E-5ED1-4474-A218-5D8512BE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docker build --tag ecoactions-api:local 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8E983-C227-48E6-B174-C93EE75F04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40b4472dc41a5"/>
          <a:stretch xmlns:a="http://schemas.openxmlformats.org/drawingml/2006/main"/>
        </p:blipFill>
        <p:spPr>
          <a:xfrm xmlns:a="http://schemas.openxmlformats.org/drawingml/2006/main">
            <a:off x="4810125" y="1721346"/>
            <a:ext cx="6715125" cy="3777258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5DCB3-CF70-4DEE-B26F-9C1950C8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81025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Fonte: execução local registrada em docs/evidencias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CC001-B2F5-4119-814E-9955772C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EcoActions API  |  DevOps aplicado a cidades ESG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64011-92C3-4EBC-834A-B87299CF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59408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BBAA8-4E1F-4915-B410-F5392188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39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FA893-6901-4DD5-9FD6-5D2AB6AA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e testes automatizados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10343-6B55-441A-8723-81A18CDD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67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8EA3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8EA3B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EA3B7"/>
                </a:solidFill>
                <a:latin typeface="Arial"/>
                <a:ea typeface="Arial"/>
                <a:cs typeface="Arial"/>
              </a:rPr>
              <a:t>Maven Verify compilou 38 arquivos principais e executou 9 testes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D2A1C-9583-4E3C-8512-8995C2135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b43cea1444df5"/>
          <a:stretch xmlns:a="http://schemas.openxmlformats.org/drawingml/2006/main"/>
        </p:blipFill>
        <p:spPr>
          <a:xfrm xmlns:a="http://schemas.openxmlformats.org/drawingml/2006/main">
            <a:off x="1811867" y="1381125"/>
            <a:ext cx="8568267" cy="4819650"/>
          </a:xfrm>
          <a:prstGeom xmlns:a="http://schemas.openxmlformats.org/drawingml/2006/main" prst="roundRect">
            <a:avLst>
              <a:gd name="adj" fmla="val 237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29849-16E8-44BA-A5E1-8005120A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EA3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8EA3B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EA3B7"/>
                </a:solidFill>
                <a:latin typeface="Arial"/>
                <a:ea typeface="Arial"/>
                <a:cs typeface="Arial"/>
              </a:rPr>
              <a:t>Fonte: saída real de ./mvnw clean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6387D-8578-45AB-A164-29FF1105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2D39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9578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608CA-7154-4F9C-8A07-8466048C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41CF5-774C-4259-867C-1338AA53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Staging e produção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7458B-AE1E-4C97-8C41-509D6BFA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67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Redes, volumes, bancos e portas independentes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01736-F776-4A67-A028-B96C623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10B79-C9DB-40BA-A755-42365F56DE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71e1a423445f3"/>
          <a:stretch xmlns:a="http://schemas.openxmlformats.org/drawingml/2006/main"/>
        </p:blipFill>
        <p:spPr>
          <a:xfrm xmlns:a="http://schemas.openxmlformats.org/drawingml/2006/main">
            <a:off x="619125" y="1582043"/>
            <a:ext cx="5381625" cy="3027164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88339-2DAD-47C1-8F44-C9735081A3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b35ab4cfb4e9a"/>
          <a:stretch xmlns:a="http://schemas.openxmlformats.org/drawingml/2006/main"/>
        </p:blipFill>
        <p:spPr>
          <a:xfrm xmlns:a="http://schemas.openxmlformats.org/drawingml/2006/main">
            <a:off x="6191250" y="1582043"/>
            <a:ext cx="5381625" cy="3027164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DAE5E-25AF-40E7-99C9-CFEBE358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STAGING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AA401-17E1-4E3D-AE42-C37DB06B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5"/>
                </a:solidFill>
                <a:latin typeface="Arial"/>
                <a:ea typeface="Arial"/>
                <a:cs typeface="Arial"/>
              </a:rPr>
              <a:t>API 8081</a:t>
            </a:r>
          </a:p>
          <a:p xmlns:a="http://schemas.openxmlformats.org/drawingml/2006/main">
            <a:pPr algn="l">
              <a:defRPr sz="1425" b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5"/>
                </a:solidFill>
                <a:latin typeface="Arial"/>
                <a:ea typeface="Arial"/>
                <a:cs typeface="Arial"/>
              </a:rPr>
              <a:t>MongoDB 27018</a:t>
            </a:r>
          </a:p>
          <a:p xmlns:a="http://schemas.openxmlformats.org/drawingml/2006/main">
            <a:pPr algn="l">
              <a:defRPr sz="1425" b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5"/>
                </a:solidFill>
                <a:latin typeface="Arial"/>
                <a:ea typeface="Arial"/>
                <a:cs typeface="Arial"/>
              </a:rPr>
              <a:t>ecoactions_staging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98B44-8667-4297-A192-9A5DF50E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76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PRODUÇÃO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788BF-8591-410C-8684-251B5F0C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1970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5"/>
                </a:solidFill>
                <a:latin typeface="Arial"/>
                <a:ea typeface="Arial"/>
                <a:cs typeface="Arial"/>
              </a:rPr>
              <a:t>API 8082</a:t>
            </a:r>
          </a:p>
          <a:p xmlns:a="http://schemas.openxmlformats.org/drawingml/2006/main">
            <a:pPr algn="l">
              <a:defRPr sz="1425" b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5"/>
                </a:solidFill>
                <a:latin typeface="Arial"/>
                <a:ea typeface="Arial"/>
                <a:cs typeface="Arial"/>
              </a:rPr>
              <a:t>MongoDB 27019</a:t>
            </a:r>
          </a:p>
          <a:p xmlns:a="http://schemas.openxmlformats.org/drawingml/2006/main">
            <a:pPr algn="l">
              <a:defRPr sz="1425" b="0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5"/>
                </a:solidFill>
                <a:latin typeface="Arial"/>
                <a:ea typeface="Arial"/>
                <a:cs typeface="Arial"/>
              </a:rPr>
              <a:t>ecoactions_production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F6150-00BE-4A22-AC77-E2BA96CC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EcoActions API  |  DevOps aplicado a cidades ESG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3D9FF-7A28-4A4C-ACA6-A8635242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3940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4BD02-4757-4567-BCAD-C2793C13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B66A9-40DF-48D3-9210-E2177EC4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Desafios encontrados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9055C-63E6-45D8-AD8D-77D1CB8E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67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Ajustes simples tornaram o ambiente previsível e demonstrável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88E87-6C12-44C5-8FDD-56958C35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93A2B-C119-43A5-9077-0F659995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F6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F6A6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F6A6A"/>
                </a:solidFill>
                <a:latin typeface="Arial"/>
                <a:ea typeface="Arial"/>
                <a:cs typeface="Arial"/>
              </a:rPr>
              <a:t>Desafio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F3675-90FE-4AA6-A3E3-8312027D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Solução adotada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1E1CB-0E0C-422D-BE61-C07CBFAC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API podia iniciar antes do MongoDB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C3A3E-F9CB-4574-9F8B-80ACAB57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Health check do banco e depends_on com condição saudável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669E9-6322-4ABF-A3BA-B67C911E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C"/>
          </a:solidFill>
          <a:ln xmlns:a="http://schemas.openxmlformats.org/drawingml/2006/main" w="0">
            <a:solidFill>
              <a:srgbClr val="D5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D0782-76A7-499F-B58F-51588FE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Credenciais estavam acopladas à configuração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985DB-B4CC-494E-BF39-9A05AC96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Variáveis de ambiente, arquivos .example e proteção no 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8A410-B368-45D3-8092-3853760C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C"/>
          </a:solidFill>
          <a:ln xmlns:a="http://schemas.openxmlformats.org/drawingml/2006/main" w="0">
            <a:solidFill>
              <a:srgbClr val="D5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25A10-9E00-4D85-969E-230DA3D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Staging e produção compartilhariam recursos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4C86E-E834-4092-8126-7945912E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195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Projetos Compose distintos com redes, volumes, bancos e portas separados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B6F6E-829E-482C-BF54-66534A77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C"/>
          </a:solidFill>
          <a:ln xmlns:a="http://schemas.openxmlformats.org/drawingml/2006/main" w="0">
            <a:solidFill>
              <a:srgbClr val="D5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114C2-373B-41EE-ADA7-0C756D38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Carga inicial usava um banco fixo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DCCEA-3FC1-4FCC-B027-B7B9D0BA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Script passou a respeitar MONGO_INITDB_DATABASE em todos os ambientes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DF9E8-D203-4A36-9648-BDEA02DB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EcoActions API  |  DevOps aplicado a cidades ESG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EE10-D075-4201-8BF5-794EC33E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12015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F9010-6048-4DDD-9310-DABABB68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A59BF-0C92-480A-9823-67F7E92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Checklist da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50821-6D84-44E5-A436-1A2A0F7F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67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Situação registrada antes da publicação no GitHub e da geração do ZIP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5E96B-729F-4930-AD7D-C1DB851E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92"/>
          </a:solidFill>
          <a:ln xmlns:a="http://schemas.openxmlformats.org/drawingml/2006/main" w="0">
            <a:solidFill>
              <a:srgbClr val="42D392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99940-7E45-4346-895C-865596592244}"/>
              </a:ext>
            </a:extLst>
          </p:cNvPr>
          <p:cNvGraphicFramePr/>
          <p:nvPr/>
        </p:nvGraphicFramePr>
        <p:xfrm>
          <a:off xmlns:a="http://schemas.openxmlformats.org/drawingml/2006/main" x="857250" y="1562100"/>
          <a:ext xmlns:a="http://schemas.openxmlformats.org/drawingml/2006/main" cx="10477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39250"/>
                <a:gridCol w="1238250"/>
              </a:tblGrid>
              <a:tr h="495300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 anchor="ctr">
                    <a:solidFill>
                      <a:srgbClr val="12263A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OK</a:t>
                      </a:r>
                    </a:p>
                  </a:txBody>
                  <a:tcPr marL="91440" marR="91440" marT="45720" marB="45720" anchor="ctr">
                    <a:solidFill>
                      <a:srgbClr val="12263A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02235"/>
                          </a:solidFill>
                          <a:latin typeface="Arial"/>
                          <a:ea typeface="Arial"/>
                          <a:cs typeface="Arial"/>
                        </a:rPr>
                        <a:t>Projeto compactado em ZIP com estrutura organizada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02235"/>
                          </a:solidFill>
                          <a:latin typeface="Arial"/>
                          <a:ea typeface="Arial"/>
                          <a:cs typeface="Arial"/>
                        </a:rPr>
                        <a:t>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02235"/>
                          </a:solidFill>
                          <a:latin typeface="Arial"/>
                          <a:ea typeface="Arial"/>
                          <a:cs typeface="Arial"/>
                        </a:rPr>
                        <a:t>Dockerfile funcional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87A5A"/>
                          </a:solidFill>
                          <a:latin typeface="Arial"/>
                          <a:ea typeface="Arial"/>
                          <a:cs typeface="Arial"/>
                        </a:rPr>
                        <a:t>☑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02235"/>
                          </a:solidFill>
                          <a:latin typeface="Arial"/>
                          <a:ea typeface="Arial"/>
                          <a:cs typeface="Arial"/>
                        </a:rPr>
                        <a:t>docker-compose.yml com volume, rede e variáveis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87A5A"/>
                          </a:solidFill>
                          <a:latin typeface="Arial"/>
                          <a:ea typeface="Arial"/>
                          <a:cs typeface="Arial"/>
                        </a:rPr>
                        <a:t>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02235"/>
                          </a:solidFill>
                          <a:latin typeface="Arial"/>
                          <a:ea typeface="Arial"/>
                          <a:cs typeface="Arial"/>
                        </a:rPr>
                        <a:t>Pipeline com build, testes e deploy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87A5A"/>
                          </a:solidFill>
                          <a:latin typeface="Arial"/>
                          <a:ea typeface="Arial"/>
                          <a:cs typeface="Arial"/>
                        </a:rPr>
                        <a:t>☑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02235"/>
                          </a:solidFill>
                          <a:latin typeface="Arial"/>
                          <a:ea typeface="Arial"/>
                          <a:cs typeface="Arial"/>
                        </a:rPr>
                        <a:t>README com instruções e prints do GitHub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02235"/>
                          </a:solidFill>
                          <a:latin typeface="Arial"/>
                          <a:ea typeface="Arial"/>
                          <a:cs typeface="Arial"/>
                        </a:rPr>
                        <a:t>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02235"/>
                          </a:solidFill>
                          <a:latin typeface="Arial"/>
                          <a:ea typeface="Arial"/>
                          <a:cs typeface="Arial"/>
                        </a:rPr>
                        <a:t>Documentação técnica com evidências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02235"/>
                          </a:solidFill>
                          <a:latin typeface="Arial"/>
                          <a:ea typeface="Arial"/>
                          <a:cs typeface="Arial"/>
                        </a:rPr>
                        <a:t>☐</a:t>
                      </a:r>
                    </a:p>
                  </a:txBody>
                  <a:tcPr marL="91440" marR="91440" marT="45720" marB="45720" anchor="ctr">
                    <a:solidFill>
                      <a:srgbClr val="F7FAFC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02235"/>
                          </a:solidFill>
                          <a:latin typeface="Arial"/>
                          <a:ea typeface="Arial"/>
                          <a:cs typeface="Arial"/>
                        </a:rPr>
                        <a:t>Deploy realizado em staging e produção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87A5A"/>
                          </a:solidFill>
                          <a:latin typeface="Arial"/>
                          <a:ea typeface="Arial"/>
                          <a:cs typeface="Arial"/>
                        </a:rPr>
                        <a:t>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F9807-DCB1-4AD3-9D9B-0BA8521A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EF6A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EF6A6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F6A6A"/>
                </a:solidFill>
                <a:latin typeface="Arial"/>
                <a:ea typeface="Arial"/>
                <a:cs typeface="Arial"/>
              </a:rPr>
              <a:t>Pendências reais: nomes e turma, prints do GitHub Actions e pacote ZIP definitivo.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45155-84EC-45DA-9AE8-31839475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067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0677D"/>
                </a:solidFill>
                <a:latin typeface="Arial"/>
                <a:ea typeface="Arial"/>
                <a:cs typeface="Arial"/>
              </a:rPr>
              <a:t>EcoActions API  |  DevOps aplicado a cidades ESG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E7E42-E15F-4148-A158-7CAA211D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87A5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A5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8942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2026-10-10T18:17:28.1080000Z</dcterms:created>
  <dcterms:modified xsi:type="dcterms:W3CDTF">2026-10-10T18:17:28.1080000Z</dcterms:modified>
</coreProperties>
</file>