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b8625aa030f4fb6" /><Relationship Type="http://schemas.openxmlformats.org/officeDocument/2006/relationships/extended-properties" Target="/docProps/app.xml" Id="R99445e4639ed4273" /><Relationship Type="http://schemas.openxmlformats.org/officeDocument/2006/relationships/officeDocument" Target="/ppt/presentation.xml" Id="R261378f85fc4418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c789007c9214d1b"/>
  </p:sldMasterIdLst>
  <p:notesMasterIdLst>
    <p:notesMasterId xmlns:r="http://schemas.openxmlformats.org/officeDocument/2006/relationships" r:id="R3da5526cabd74d4b"/>
  </p:notesMasterIdLst>
  <p:sldIdLst>
    <p:sldId xmlns:r="http://schemas.openxmlformats.org/officeDocument/2006/relationships" id="256" r:id="R2c748a3155bb4e10"/>
    <p:sldId xmlns:r="http://schemas.openxmlformats.org/officeDocument/2006/relationships" id="257" r:id="R9ff572c425274e36"/>
    <p:sldId xmlns:r="http://schemas.openxmlformats.org/officeDocument/2006/relationships" id="258" r:id="Rf1a363b30197446a"/>
    <p:sldId xmlns:r="http://schemas.openxmlformats.org/officeDocument/2006/relationships" id="259" r:id="R700f170581674453"/>
    <p:sldId xmlns:r="http://schemas.openxmlformats.org/officeDocument/2006/relationships" id="260" r:id="Raf98d3b0ff494bfd"/>
    <p:sldId xmlns:r="http://schemas.openxmlformats.org/officeDocument/2006/relationships" id="261" r:id="Rd3e7f009d69749f8"/>
    <p:sldId xmlns:r="http://schemas.openxmlformats.org/officeDocument/2006/relationships" id="262" r:id="Rf3c8e4bc7f884835"/>
    <p:sldId xmlns:r="http://schemas.openxmlformats.org/officeDocument/2006/relationships" id="263" r:id="Rd43f6457a5e44e8d"/>
    <p:sldId xmlns:r="http://schemas.openxmlformats.org/officeDocument/2006/relationships" id="264" r:id="R32bf118b1c904b39"/>
    <p:sldId xmlns:r="http://schemas.openxmlformats.org/officeDocument/2006/relationships" id="265" r:id="R9bf3f6162213433d"/>
    <p:sldId xmlns:r="http://schemas.openxmlformats.org/officeDocument/2006/relationships" id="266" r:id="R2bf94f8443374c99"/>
    <p:sldId xmlns:r="http://schemas.openxmlformats.org/officeDocument/2006/relationships" id="267" r:id="R3069e48e7fbe481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d0f8d1e62974309" /><Relationship Type="http://schemas.openxmlformats.org/officeDocument/2006/relationships/slideMaster" Target="/ppt/slideMasters/slideMaster1.xml" Id="Rfc789007c9214d1b" /><Relationship Type="http://schemas.openxmlformats.org/officeDocument/2006/relationships/notesMaster" Target="/ppt/notesMasters/notesMaster1.xml" Id="R3da5526cabd74d4b" /><Relationship Type="http://schemas.openxmlformats.org/officeDocument/2006/relationships/presProps" Target="/ppt/presProps.xml" Id="Ra5ee3f99f0f44853" /><Relationship Type="http://schemas.openxmlformats.org/officeDocument/2006/relationships/tableStyles" Target="/ppt/tableStyles.xml" Id="Rd5c0a05d905848cb" /><Relationship Type="http://schemas.openxmlformats.org/officeDocument/2006/relationships/slide" Target="/ppt/slides/slide1.xml" Id="R2c748a3155bb4e10" /><Relationship Type="http://schemas.openxmlformats.org/officeDocument/2006/relationships/slide" Target="/ppt/slides/slide2.xml" Id="R9ff572c425274e36" /><Relationship Type="http://schemas.openxmlformats.org/officeDocument/2006/relationships/slide" Target="/ppt/slides/slide3.xml" Id="Rf1a363b30197446a" /><Relationship Type="http://schemas.openxmlformats.org/officeDocument/2006/relationships/slide" Target="/ppt/slides/slide4.xml" Id="R700f170581674453" /><Relationship Type="http://schemas.openxmlformats.org/officeDocument/2006/relationships/slide" Target="/ppt/slides/slide5.xml" Id="Raf98d3b0ff494bfd" /><Relationship Type="http://schemas.openxmlformats.org/officeDocument/2006/relationships/slide" Target="/ppt/slides/slide6.xml" Id="Rd3e7f009d69749f8" /><Relationship Type="http://schemas.openxmlformats.org/officeDocument/2006/relationships/slide" Target="/ppt/slides/slide7.xml" Id="Rf3c8e4bc7f884835" /><Relationship Type="http://schemas.openxmlformats.org/officeDocument/2006/relationships/slide" Target="/ppt/slides/slide8.xml" Id="Rd43f6457a5e44e8d" /><Relationship Type="http://schemas.openxmlformats.org/officeDocument/2006/relationships/slide" Target="/ppt/slides/slide9.xml" Id="R32bf118b1c904b39" /><Relationship Type="http://schemas.openxmlformats.org/officeDocument/2006/relationships/slide" Target="/ppt/slides/slide10.xml" Id="R9bf3f6162213433d" /><Relationship Type="http://schemas.openxmlformats.org/officeDocument/2006/relationships/slide" Target="/ppt/slides/slide11.xml" Id="R2bf94f8443374c99" /><Relationship Type="http://schemas.openxmlformats.org/officeDocument/2006/relationships/slide" Target="/ppt/slides/slide12.xml" Id="R3069e48e7fbe481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971ad16ffd3453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172b048f9ee4699" /><Relationship Type="http://schemas.openxmlformats.org/officeDocument/2006/relationships/notesMaster" Target="/ppt/notesMasters/notesMaster1.xml" Id="Rc660e644365c4e4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e4d601b2af14929" /><Relationship Type="http://schemas.openxmlformats.org/officeDocument/2006/relationships/notesMaster" Target="/ppt/notesMasters/notesMaster1.xml" Id="Re2dc3e81932043c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ccc078754c54401" /><Relationship Type="http://schemas.openxmlformats.org/officeDocument/2006/relationships/notesMaster" Target="/ppt/notesMasters/notesMaster1.xml" Id="R7ec8f55de66d44b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dfdf77594404ecb" /><Relationship Type="http://schemas.openxmlformats.org/officeDocument/2006/relationships/notesMaster" Target="/ppt/notesMasters/notesMaster1.xml" Id="Rdad4fac2b0c445f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9f98953113b46b1" /><Relationship Type="http://schemas.openxmlformats.org/officeDocument/2006/relationships/notesMaster" Target="/ppt/notesMasters/notesMaster1.xml" Id="R8d08f783fcaa42c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92a90202d0d474c" /><Relationship Type="http://schemas.openxmlformats.org/officeDocument/2006/relationships/notesMaster" Target="/ppt/notesMasters/notesMaster1.xml" Id="Rb36aeff28d8c43b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fd094f4b2874f8f" /><Relationship Type="http://schemas.openxmlformats.org/officeDocument/2006/relationships/notesMaster" Target="/ppt/notesMasters/notesMaster1.xml" Id="R164156672e8d4e4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d9cd89160fe4eca" /><Relationship Type="http://schemas.openxmlformats.org/officeDocument/2006/relationships/notesMaster" Target="/ppt/notesMasters/notesMaster1.xml" Id="R5259605357ec4e0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f0a7934f4324b68" /><Relationship Type="http://schemas.openxmlformats.org/officeDocument/2006/relationships/notesMaster" Target="/ppt/notesMasters/notesMaster1.xml" Id="Rb51215afaad24f3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24c8bf03f4f4d3c" /><Relationship Type="http://schemas.openxmlformats.org/officeDocument/2006/relationships/notesMaster" Target="/ppt/notesMasters/notesMaster1.xml" Id="Re2ffd214d880449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d171e0a52474fd6" /><Relationship Type="http://schemas.openxmlformats.org/officeDocument/2006/relationships/notesMaster" Target="/ppt/notesMasters/notesMaster1.xml" Id="R0f45f89984ac416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e4e062369cd4035" /><Relationship Type="http://schemas.openxmlformats.org/officeDocument/2006/relationships/notesMaster" Target="/ppt/notesMasters/notesMaster1.xml" Id="Ra89125ffeb1c494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Identificação fornecida no projeto original.</a:t>
            </a:r>
          </a:p>
          <a:p xmlns:a="http://schemas.openxmlformats.org/drawingml/2006/main">
            <a:r>
              <a:t>Capa preservada do documento original: docs/assets/cover-city-esg.png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README.md e src/main/java/br/com/fiap/ecoactions_api.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docker-compose.yml e Dockerfile.</a:t>
            </a:r>
          </a:p>
          <a:p xmlns:a="http://schemas.openxmlformats.org/drawingml/2006/main">
            <a:r>
              <a:t>O slide representa a comunicação da API com o banco. A infraestrutura persistente é detalhada no slide 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.github/workflows/ci-cd.yml</a:t>
            </a:r>
          </a:p>
          <a:p xmlns:a="http://schemas.openxmlformats.org/drawingml/2006/main">
            <a:r>
              <a:t>https://github.com/Gabriel-Morais102/ecoactions-api/actions/runs/38081156864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Fontes: .github/workflows/ci-cd.yml, docker-compose.yml e deploy/README.md.</a:t>
            </a:r>
          </a:p>
          <a:p xmlns:a="http://schemas.openxmlformats.org/drawingml/2006/main">
            <a:r>
              <a:t>ECOACTIONS_DEPLOY_ROOT deve apontar para o diretório absoluto com staging/.env e production/.env, fora do checkout temporário do runner.</a:t>
            </a:r>
          </a:p>
          <a:p xmlns:a="http://schemas.openxmlformats.org/drawingml/2006/main">
            <a:r>
              <a:t>Validação: 10/10/2026 (horário de Brasília)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Fontes: Dockerfile, docker-compose.yml e scripts/deploy.ps1.</a:t>
            </a:r>
          </a:p>
          <a:p xmlns:a="http://schemas.openxmlformats.org/drawingml/2006/main">
            <a:r>
              <a:t>Os comandos pressupõem ECOACTIONS_DEPLOY_ROOT definido e os arquivos de ambiente configurados conforme deploy/README.md.</a:t>
            </a:r>
          </a:p>
          <a:p xmlns:a="http://schemas.openxmlformats.org/drawingml/2006/main">
            <a:r>
              <a:t>Captura: docs/evidencias/02-imagem-docker.jpg</a:t>
            </a:r>
          </a:p>
          <a:p xmlns:a="http://schemas.openxmlformats.org/drawingml/2006/main">
            <a:r>
              <a:t>https://github.com/Gabriel-Morais102/ecoactions-api/actions/runs/38081156864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https://github.com/Gabriel-Morais102/ecoactions-api/actions/runs/38081156864</a:t>
            </a:r>
          </a:p>
          <a:p xmlns:a="http://schemas.openxmlformats.org/drawingml/2006/main">
            <a:r>
              <a:t>Captura: docs/evidencias/07-pipeline-cicd-github.jpg</a:t>
            </a:r>
          </a:p>
          <a:p xmlns:a="http://schemas.openxmlformats.org/drawingml/2006/main">
            <a:r>
              <a:t>SHA: e500df0e9b66cbb88a8895f9aedf5769a1fb4106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Captura do job GitHub Actions: docs/evidencias/03-deploy-staging-pipeline.jpg</a:t>
            </a:r>
          </a:p>
          <a:p xmlns:a="http://schemas.openxmlformats.org/drawingml/2006/main">
            <a:r>
              <a:t>Captura da página GitHub com stdout real do smoke test: docs/evidencias/04-staging-funcionando.jpg</a:t>
            </a:r>
          </a:p>
          <a:p xmlns:a="http://schemas.openxmlformats.org/drawingml/2006/main">
            <a:r>
              <a:t>Validação: 10/10/2026 (horário de Brasília)</a:t>
            </a:r>
          </a:p>
          <a:p xmlns:a="http://schemas.openxmlformats.org/drawingml/2006/main">
            <a:r>
              <a:t>https://github.com/Gabriel-Morais102/ecoactions-api/actions/runs/38081156864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Captura do job GitHub Actions: docs/evidencias/05-deploy-producao-pipeline.jpg</a:t>
            </a:r>
          </a:p>
          <a:p xmlns:a="http://schemas.openxmlformats.org/drawingml/2006/main">
            <a:r>
              <a:t>Captura da página GitHub com stdout real do smoke test: docs/evidencias/06-producao-funcionando.jpg</a:t>
            </a:r>
          </a:p>
          <a:p xmlns:a="http://schemas.openxmlformats.org/drawingml/2006/main">
            <a:r>
              <a:t>Validação: 10/10/2026 (horário de Brasília)</a:t>
            </a:r>
          </a:p>
          <a:p xmlns:a="http://schemas.openxmlformats.org/drawingml/2006/main">
            <a:r>
              <a:t>https://github.com/Gabriel-Morais102/ecoactions-api/actions/runs/38081156864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Fontes: src/test/java e relatórios Surefire da execução validada.</a:t>
            </a:r>
          </a:p>
          <a:p xmlns:a="http://schemas.openxmlformats.org/drawingml/2006/main">
            <a:r>
              <a:t>Captura: docs/evidencias/01-build-e-testes.jpg</a:t>
            </a:r>
          </a:p>
          <a:p xmlns:a="http://schemas.openxmlformats.org/drawingml/2006/main">
            <a:r>
              <a:t>https://github.com/Gabriel-Morais102/ecoactions-api/actions/runs/38081156864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Fontes: código, testes e configuração presentes no pacote de entrega.</a:t>
            </a:r>
          </a:p>
          <a:p xmlns:a="http://schemas.openxmlformats.org/drawingml/2006/main">
            <a:r>
              <a:t>https://github.com/Gabriel-Morais102/ecoactions-api/actions/runs/38081156864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Checklist baseado nos requisitos da atividade e nos arquivos entregues.</a:t>
            </a:r>
          </a:p>
          <a:p xmlns:a="http://schemas.openxmlformats.org/drawingml/2006/main">
            <a:r>
              <a:t>https://github.com/Gabriel-Morais102/ecoactions-api/actions/runs/38081156864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534fc074024d6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25ff9dcd8a74c7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2049f0404848d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4d715202c2f407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a650cd2f3e34d0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cd3cac59b9748b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33AB64E-2C66-490A-9578-2DFE1E0ACEF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0E22D0E2-9C09-459C-B003-4E75EE8CF7E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499CB5AE-A589-4B89-B079-854D53F315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490ACC4-14E2-4C9F-8928-E8F5B17F0E7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D11EEA15-857B-4B2F-9728-13C68321990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4EE4D24F-8C1D-4D3C-B981-022CE95B599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09C5C1C-BE6C-4BF2-A91C-F407BE313A4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82AC10A6-C3CD-4662-9B51-C31D8AC50AD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F8DB231-4DFC-40F0-AA63-55D3F1F798E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DC429B8-DAC6-486C-9D0C-76A811D9528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3da670a509e417e" /><Relationship Type="http://schemas.openxmlformats.org/officeDocument/2006/relationships/slideLayout" Target="/ppt/slideLayouts/slideLayout1.xml" Id="Rc63c940d2a2c4bc8" /><Relationship Type="http://schemas.openxmlformats.org/officeDocument/2006/relationships/slideLayout" Target="/ppt/slideLayouts/slideLayout2.xml" Id="Rf237c765adef419d" /><Relationship Type="http://schemas.openxmlformats.org/officeDocument/2006/relationships/slideLayout" Target="/ppt/slideLayouts/slideLayout3.xml" Id="R10b77a460de145c6" /><Relationship Type="http://schemas.openxmlformats.org/officeDocument/2006/relationships/slideLayout" Target="/ppt/slideLayouts/slideLayout4.xml" Id="R0ec56d9af7364afb" /><Relationship Type="http://schemas.openxmlformats.org/officeDocument/2006/relationships/slideLayout" Target="/ppt/slideLayouts/slideLayout5.xml" Id="R1a720c95fc8e4b40" /><Relationship Type="http://schemas.openxmlformats.org/officeDocument/2006/relationships/slideLayout" Target="/ppt/slideLayouts/slideLayout6.xml" Id="Ra95bcd6489dd4d3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63c940d2a2c4bc8"/>
    <p:sldLayoutId xmlns:r="http://schemas.openxmlformats.org/officeDocument/2006/relationships" id="2147483650" r:id="Rf237c765adef419d"/>
    <p:sldLayoutId xmlns:r="http://schemas.openxmlformats.org/officeDocument/2006/relationships" id="2147483651" r:id="R10b77a460de145c6"/>
    <p:sldLayoutId xmlns:r="http://schemas.openxmlformats.org/officeDocument/2006/relationships" id="2147483652" r:id="R0ec56d9af7364afb"/>
    <p:sldLayoutId xmlns:r="http://schemas.openxmlformats.org/officeDocument/2006/relationships" id="2147483653" r:id="R1a720c95fc8e4b40"/>
    <p:sldLayoutId xmlns:r="http://schemas.openxmlformats.org/officeDocument/2006/relationships" id="2147483654" r:id="Ra95bcd6489dd4d3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f8071eab0804b48" /><Relationship Type="http://schemas.openxmlformats.org/officeDocument/2006/relationships/image" Target="/ppt/media/image.png" Id="R03e0e4a4a2e84217" /><Relationship Type="http://schemas.openxmlformats.org/officeDocument/2006/relationships/notesSlide" Target="/ppt/notesSlides/notesSlide1.xml" Id="Re9766ed867ec463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cc27b82315648ea" /><Relationship Type="http://schemas.openxmlformats.org/officeDocument/2006/relationships/notesSlide" Target="/ppt/notesSlides/notesSlide2.xml" Id="Rc2d7ddff7a714a7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ad51e4e9c124317" /><Relationship Type="http://schemas.openxmlformats.org/officeDocument/2006/relationships/notesSlide" Target="/ppt/notesSlides/notesSlide3.xml" Id="Re4fc99c349dd4a3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54711a632904672" /><Relationship Type="http://schemas.openxmlformats.org/officeDocument/2006/relationships/notesSlide" Target="/ppt/notesSlides/notesSlide4.xml" Id="R583ca23ca08b4da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ab0d6fad7c548d2" /><Relationship Type="http://schemas.openxmlformats.org/officeDocument/2006/relationships/notesSlide" Target="/ppt/notesSlides/notesSlide5.xml" Id="Rb5f616e6f449498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c13f11c491340d7" /><Relationship Type="http://schemas.openxmlformats.org/officeDocument/2006/relationships/image" Target="/ppt/media/image.jpeg" Id="R3b2443d6fabc4e46" /><Relationship Type="http://schemas.openxmlformats.org/officeDocument/2006/relationships/notesSlide" Target="/ppt/notesSlides/notesSlide6.xml" Id="R384ec3c7b1764c2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19e8dfe2364448c" /><Relationship Type="http://schemas.openxmlformats.org/officeDocument/2006/relationships/image" Target="/ppt/media/image2.jpeg" Id="R1b2a71eb88b1422d" /><Relationship Type="http://schemas.openxmlformats.org/officeDocument/2006/relationships/notesSlide" Target="/ppt/notesSlides/notesSlide7.xml" Id="R9bde962f8630449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7f0476db0d94f7f" /><Relationship Type="http://schemas.openxmlformats.org/officeDocument/2006/relationships/image" Target="/ppt/media/image3.jpeg" Id="Rb5b0554610fd4f1c" /><Relationship Type="http://schemas.openxmlformats.org/officeDocument/2006/relationships/image" Target="/ppt/media/image4.jpeg" Id="R121f483705824d6d" /><Relationship Type="http://schemas.openxmlformats.org/officeDocument/2006/relationships/notesSlide" Target="/ppt/notesSlides/notesSlide8.xml" Id="R7120affca3bf404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2732fbce0254632" /><Relationship Type="http://schemas.openxmlformats.org/officeDocument/2006/relationships/image" Target="/ppt/media/image5.jpeg" Id="R098f25c2385246aa" /><Relationship Type="http://schemas.openxmlformats.org/officeDocument/2006/relationships/image" Target="/ppt/media/image6.jpeg" Id="Rfd531ea977294737" /><Relationship Type="http://schemas.openxmlformats.org/officeDocument/2006/relationships/notesSlide" Target="/ppt/notesSlides/notesSlide9.xml" Id="Rcfe76e40dc624d6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a9a7a6051c74492" /><Relationship Type="http://schemas.openxmlformats.org/officeDocument/2006/relationships/image" Target="/ppt/media/image7.jpeg" Id="R644f42edd0374805" /><Relationship Type="http://schemas.openxmlformats.org/officeDocument/2006/relationships/notesSlide" Target="/ppt/notesSlides/notesSlide10.xml" Id="R6c1443f74bf44b3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6d89f52c3d94246" /><Relationship Type="http://schemas.openxmlformats.org/officeDocument/2006/relationships/notesSlide" Target="/ppt/notesSlides/notesSlide11.xml" Id="R6225a012c9004dc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fe066c0f1244032" /><Relationship Type="http://schemas.openxmlformats.org/officeDocument/2006/relationships/notesSlide" Target="/ppt/notesSlides/notesSlide12.xml" Id="R8ce6e71f310540b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3EAB5E-7E0B-42B0-941E-BBE248BBA44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e0e4a4a2e84217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EF3CBA-4224-494C-A30D-203B34EF2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42D39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125" b="1">
                <a:solidFill>
                  <a:srgbClr val="42D392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42D392"/>
                </a:solidFill>
                <a:latin typeface="Arial"/>
                <a:ea typeface="Arial"/>
                <a:cs typeface="Arial"/>
              </a:rPr>
              <a:t>ATIVIDADE AVALIATIVA  |  DEVOPS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EDA885-E6CD-4994-82A2-590E8EA31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5334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EcoActions API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4B85DB-1F5A-4B33-AD17-FD9294587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57450"/>
            <a:ext cx="5048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025" b="0">
                <a:solidFill>
                  <a:srgbClr val="D8E2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2025" b="0">
                <a:solidFill>
                  <a:srgbClr val="D8E2EE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D8E2EE"/>
                </a:solidFill>
                <a:latin typeface="Arial"/>
                <a:ea typeface="Arial"/>
                <a:cs typeface="Arial"/>
              </a:rPr>
              <a:t>DevOps aplicado a cidades ESG inteligentes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61470F-2604-40FD-AF46-1F8178003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86150"/>
            <a:ext cx="3810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D392"/>
          </a:solidFill>
          <a:ln xmlns:a="http://schemas.openxmlformats.org/drawingml/2006/main" w="0">
            <a:solidFill>
              <a:srgbClr val="42D39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F1ED30-BD22-4822-96D1-59B685F5D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5715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Integrante: Gabriel Elias Lopes de Morais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RM 566281 | Turma 2TDSOD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ECA4AA-8312-4EC7-9973-BDE874577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29325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050" b="0">
                <a:solidFill>
                  <a:srgbClr val="8EA3B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050" b="0">
                <a:solidFill>
                  <a:srgbClr val="8EA3B7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8EA3B7"/>
                </a:solidFill>
                <a:latin typeface="Arial"/>
                <a:ea typeface="Arial"/>
                <a:cs typeface="Arial"/>
              </a:rPr>
              <a:t>Java 17  |  Spring Boot  |  MongoDB  |  Docker  |  GitHub Actions</a:t>
            </a:r>
          </a:p>
        </p:txBody>
      </p:sp>
    </p:spTree>
    <p:extLst>
      <p:ext uri="{BB962C8B-B14F-4D97-AF65-F5344CB8AC3E}">
        <p14:creationId xmlns:p14="http://schemas.microsoft.com/office/powerpoint/2010/main" val="62843190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A227291-13A3-45A6-A9D6-430CA25B7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53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350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87A5A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D648A8-3576-4A24-8777-873FE6F06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81000"/>
            <a:ext cx="962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2850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2235"/>
                </a:solidFill>
                <a:latin typeface="Arial"/>
                <a:ea typeface="Arial"/>
                <a:cs typeface="Arial"/>
              </a:rPr>
              <a:t>Problema ESG e proposta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C65C15-2E26-4F66-A835-C8CC0C937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866775"/>
            <a:ext cx="962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35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Gestão rastreável do descarte até a destinação final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126E90-A2D0-4BD2-883A-5D6353ECC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10896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D392"/>
          </a:solidFill>
          <a:ln xmlns:a="http://schemas.openxmlformats.org/drawingml/2006/main" w="0">
            <a:solidFill>
              <a:srgbClr val="42D39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B849D4-DE6B-44FB-891E-AF43CFF62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41719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725" b="0">
                <a:solidFill>
                  <a:srgbClr val="1022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725" b="0">
                <a:solidFill>
                  <a:srgbClr val="102235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2235"/>
                </a:solidFill>
                <a:latin typeface="Arial"/>
                <a:ea typeface="Arial"/>
                <a:cs typeface="Arial"/>
              </a:rPr>
              <a:t>A gestão de resíduos urbanos exige dados consistentes sobre materiais, pontos de coleta e destinações. O EcoActions reúne essas informações em uma API REST e cria alertas quando um ponto precisa de atenção.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DF888C-34D8-4C01-AC99-B81832656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650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87A5A"/>
                </a:solidFill>
                <a:latin typeface="Arial"/>
                <a:ea typeface="Arial"/>
                <a:cs typeface="Arial"/>
              </a:rPr>
              <a:t>A aplicação apoia decisões ambientais sem misturar dados de homologação e produção.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FDE869-2778-41BD-8456-E80A3022B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1543050"/>
            <a:ext cx="56769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5E2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55E14F-BB34-4C64-A018-EC22827F6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1657350"/>
            <a:ext cx="552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38BDF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500" b="1">
                <a:solidFill>
                  <a:srgbClr val="38BDF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8BDF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1AAAD7-4E3E-4BE9-B818-8353FD4BD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619250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725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2235"/>
                </a:solidFill>
                <a:latin typeface="Arial"/>
                <a:ea typeface="Arial"/>
                <a:cs typeface="Arial"/>
              </a:rPr>
              <a:t>Resíduo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BD86C3-840F-4435-870A-4E3DC120B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400300"/>
            <a:ext cx="56769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5E2E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951294-AA42-40A4-AF78-C93074E7F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2514600"/>
            <a:ext cx="552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38BDF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500" b="1">
                <a:solidFill>
                  <a:srgbClr val="38BDF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8BDF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AE4918-2B8E-45B2-84E8-665EAFB92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476500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4203"/>
          </a:bodyPr>
          <a:lstStyle xmlns:a="http://schemas.openxmlformats.org/drawingml/2006/main">
            <a:defPPr algn="l">
              <a:defRPr sz="1725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725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2235"/>
                </a:solidFill>
                <a:latin typeface="Arial"/>
                <a:ea typeface="Arial"/>
                <a:cs typeface="Arial"/>
              </a:rPr>
              <a:t>Ponto de</a:t>
            </a:r>
          </a:p>
          <a:p xmlns:a="http://schemas.openxmlformats.org/drawingml/2006/main">
            <a:pPr algn="l">
              <a:buNone/>
              <a:defRPr sz="1725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2235"/>
                </a:solidFill>
                <a:latin typeface="Arial"/>
                <a:ea typeface="Arial"/>
                <a:cs typeface="Arial"/>
              </a:rPr>
              <a:t>coleta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0EC8B9-4D60-4DF5-B89E-A5366E7BC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257550"/>
            <a:ext cx="56769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5E2E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DF88E5-D019-4077-A2EB-158F09D0A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3371850"/>
            <a:ext cx="552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38BDF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500" b="1">
                <a:solidFill>
                  <a:srgbClr val="38BDF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8BDF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9C05A0-3C8D-4A5D-8203-A064282F0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333750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725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2235"/>
                </a:solidFill>
                <a:latin typeface="Arial"/>
                <a:ea typeface="Arial"/>
                <a:cs typeface="Arial"/>
              </a:rPr>
              <a:t>Coleta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C82360-BFA8-4682-9816-85D4E5ED2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4114800"/>
            <a:ext cx="56769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5E2E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EC2A85-18D7-44A1-8B39-93403A110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4229100"/>
            <a:ext cx="552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38BDF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500" b="1">
                <a:solidFill>
                  <a:srgbClr val="38BDF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8BDF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C037E04-E1D7-4938-A056-3B08AFE70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191000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725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2235"/>
                </a:solidFill>
                <a:latin typeface="Arial"/>
                <a:ea typeface="Arial"/>
                <a:cs typeface="Arial"/>
              </a:rPr>
              <a:t>Destinação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31E6530-0AEA-4166-9B3C-82DB14B22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4972050"/>
            <a:ext cx="56769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E6F8F1"/>
          </a:solidFill>
          <a:ln xmlns:a="http://schemas.openxmlformats.org/drawingml/2006/main" w="19050">
            <a:solidFill>
              <a:srgbClr val="42D39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64C111-88F2-41B0-A4DE-834C53C95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5086350"/>
            <a:ext cx="552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500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7A5A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BE82E9C-105B-428E-A56D-652AE7C54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5048250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725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2235"/>
                </a:solidFill>
                <a:latin typeface="Arial"/>
                <a:ea typeface="Arial"/>
                <a:cs typeface="Arial"/>
              </a:rPr>
              <a:t>Alerta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2FEB014-BDEB-4E61-9926-C9E98FE62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90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EcoActions API  |  DevOps aplicado a cidades ESG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C3D9B0E-92E0-479A-A91C-627B2D8B2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77000"/>
            <a:ext cx="685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buNone/>
              <a:defRPr sz="97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87A5A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50841047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C5CFE7A-6999-408C-8F16-F947C38AF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53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350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87A5A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8B1B77-74B9-4A18-9FE1-7DB62A61A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81000"/>
            <a:ext cx="962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2850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2235"/>
                </a:solidFill>
                <a:latin typeface="Arial"/>
                <a:ea typeface="Arial"/>
                <a:cs typeface="Arial"/>
              </a:rPr>
              <a:t>Arquitetura da solução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E69BDE-186F-43E0-B748-DECCBF4AD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866775"/>
            <a:ext cx="962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35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Aplicação e banco orquestrados pelo Docker Compose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117A5B-EE32-4F9B-8AF6-C855E2BE0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10896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D392"/>
          </a:solidFill>
          <a:ln xmlns:a="http://schemas.openxmlformats.org/drawingml/2006/main" w="0">
            <a:solidFill>
              <a:srgbClr val="42D39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A49E64-DA27-48F7-8357-D60164175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33625"/>
            <a:ext cx="20002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12263A"/>
          </a:solidFill>
          <a:ln xmlns:a="http://schemas.openxmlformats.org/drawingml/2006/main" w="0">
            <a:solidFill>
              <a:srgbClr val="12263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686CF0-B9E4-4906-8B94-356AE9EC7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33625"/>
            <a:ext cx="200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76200" rIns="76200" bIns="76200" anchor="ctr">
            <a:normAutofit fontScale="100000"/>
          </a:bodyPr>
          <a:lstStyle xmlns:a="http://schemas.openxmlformats.org/drawingml/2006/main">
            <a:def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Cliente HTTP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48D59C-2B8C-4459-95EC-21248E15E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057400"/>
            <a:ext cx="28575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187A5A"/>
          </a:solidFill>
          <a:ln xmlns:a="http://schemas.openxmlformats.org/drawingml/2006/main" w="0">
            <a:solidFill>
              <a:srgbClr val="187A5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A86A7B-11D4-4D7A-940E-4C0BF2AEA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057400"/>
            <a:ext cx="28575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76200" rIns="76200" bIns="76200" anchor="ctr">
            <a:normAutofit fontScale="100000"/>
          </a:bodyPr>
          <a:lstStyle xmlns:a="http://schemas.openxmlformats.org/drawingml/2006/main">
            <a:def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EcoActions API</a:t>
            </a:r>
          </a:p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Spring Boot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DA415D-BB98-4605-8FB1-7EA0E4EB7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333625"/>
            <a:ext cx="23812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256A86"/>
          </a:solidFill>
          <a:ln xmlns:a="http://schemas.openxmlformats.org/drawingml/2006/main" w="0">
            <a:solidFill>
              <a:srgbClr val="256A8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B24446-891F-4D97-B967-588ECE563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333625"/>
            <a:ext cx="2381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76200" rIns="76200" bIns="76200" anchor="ctr">
            <a:normAutofit fontScale="100000"/>
          </a:bodyPr>
          <a:lstStyle xmlns:a="http://schemas.openxmlformats.org/drawingml/2006/main">
            <a:def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MongoDB 7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5D7D1B-46B6-4C45-93B4-6B9D6D4FC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600325"/>
            <a:ext cx="1181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38BDF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FE06AC-3546-4265-8BF7-5817C87AB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600325"/>
            <a:ext cx="1181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38BDF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FF88E5-B92B-43E4-AB76-B4F5B4533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305050"/>
            <a:ext cx="99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05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HTTP Basic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F1FF83-C0DA-4187-B690-E6856D0BB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305050"/>
            <a:ext cx="1028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05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Spring Data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C675AD-E6CB-447C-9C20-03EB9FBD3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957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57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57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87A5A"/>
                </a:solidFill>
                <a:latin typeface="Arial"/>
                <a:ea typeface="Arial"/>
                <a:cs typeface="Arial"/>
              </a:rPr>
              <a:t>Variáveis de ambiente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83960A-41B5-4997-BACB-D6D556D52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14850"/>
            <a:ext cx="3143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35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35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Credenciais e portas fora do código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2B224D-EBC1-449D-A410-5AB34E9CD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0957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57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57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87A5A"/>
                </a:solidFill>
                <a:latin typeface="Arial"/>
                <a:ea typeface="Arial"/>
                <a:cs typeface="Arial"/>
              </a:rPr>
              <a:t>Rede dedicada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950CBD2-8A0D-491E-8530-C2C3A4825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514850"/>
            <a:ext cx="3143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35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35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Comunicação interna entre API e banco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028147-8D27-41DF-A73A-102665F03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0957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57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57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87A5A"/>
                </a:solidFill>
                <a:latin typeface="Arial"/>
                <a:ea typeface="Arial"/>
                <a:cs typeface="Arial"/>
              </a:rPr>
              <a:t>Volume persistente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E08E741-4941-4910-82F6-101397551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514850"/>
            <a:ext cx="3143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35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35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Dados preservados entre reinícios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EFADF79-2D57-464B-95DB-ABDA5854B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5657850"/>
            <a:ext cx="8610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725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725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2235"/>
                </a:solidFill>
                <a:latin typeface="Arial"/>
                <a:ea typeface="Arial"/>
                <a:cs typeface="Arial"/>
              </a:rPr>
              <a:t>Cada ambiente recebe rede, volume, banco e portas próprios.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116C69F-776E-4C02-A942-68A1D65B8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876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90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EcoActions API  |  DevOps aplicado a cidades ESG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FFE03B9-306E-47FB-BCDB-5DC4325A9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77000"/>
            <a:ext cx="685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buNone/>
              <a:defRPr sz="97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87A5A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2716735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E63889D-3DBD-4D80-9BF8-CC2A8D981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53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42D39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42D392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42D392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D77CFB-5906-4C30-B818-BA0E5A857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8100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Pipeline CI/CD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1955F1-6F90-4DDC-9885-6ABC79AB9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895350"/>
            <a:ext cx="1028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8EA3B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8EA3B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8EA3B7"/>
                </a:solidFill>
                <a:latin typeface="Arial"/>
                <a:ea typeface="Arial"/>
                <a:cs typeface="Arial"/>
              </a:rPr>
              <a:t>GitHub Actions valida a versão antes de promover para produção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6F79C9-B645-4C29-A61A-F17D29147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573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D3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6BC941-ADC1-470A-8A6C-130019048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05575"/>
            <a:ext cx="914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8EA3B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8EA3B7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8EA3B7"/>
                </a:solidFill>
                <a:latin typeface="Arial"/>
                <a:ea typeface="Arial"/>
                <a:cs typeface="Arial"/>
              </a:rPr>
              <a:t>EcoActions API  |  DevOps aplicado a cidades ESG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993678-8BC5-4669-BAEE-DFA6DBFBF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77000"/>
            <a:ext cx="685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42D39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>
                <a:solidFill>
                  <a:srgbClr val="42D39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42D392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B83993-D134-4D52-86D1-870E46DFA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57350"/>
            <a:ext cx="3286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42D39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42D392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42D392"/>
                </a:solidFill>
                <a:latin typeface="Arial"/>
                <a:ea typeface="Arial"/>
                <a:cs typeface="Arial"/>
              </a:rPr>
              <a:t>01  Build e testes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8D41B0-ABD2-4033-8B32-45916D748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657350"/>
            <a:ext cx="7124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725" b="0">
                <a:solidFill>
                  <a:srgbClr val="D8E2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D8E2E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D8E2EE"/>
                </a:solidFill>
                <a:latin typeface="Arial"/>
                <a:ea typeface="Arial"/>
                <a:cs typeface="Arial"/>
              </a:rPr>
              <a:t>Java 17 e Maven Verify executam 33 testes automatizados.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DA31F8-2DAF-4CF0-B5B4-3F481343A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76500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40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C2F2C3-0A84-469D-974E-98E35343E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67000"/>
            <a:ext cx="3286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42D39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42D392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42D392"/>
                </a:solidFill>
                <a:latin typeface="Arial"/>
                <a:ea typeface="Arial"/>
                <a:cs typeface="Arial"/>
              </a:rPr>
              <a:t>02  Imagem Docker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9332C5-AA3F-41D9-96B8-0431224A9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667000"/>
            <a:ext cx="7124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725" b="0">
                <a:solidFill>
                  <a:srgbClr val="D8E2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D8E2E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D8E2EE"/>
                </a:solidFill>
                <a:latin typeface="Arial"/>
                <a:ea typeface="Arial"/>
                <a:cs typeface="Arial"/>
              </a:rPr>
              <a:t>A imagem recebe a tag do commit e é distribuída em um artefato compactado.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63F012-4DDD-47A8-B88D-F57AB3118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86150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40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98D72F-DCD5-4D43-8336-409EEC657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76650"/>
            <a:ext cx="3286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42D39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42D392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42D392"/>
                </a:solidFill>
                <a:latin typeface="Arial"/>
                <a:ea typeface="Arial"/>
                <a:cs typeface="Arial"/>
              </a:rPr>
              <a:t>03  Deploy staging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1B1EBB-D449-4DE0-81E7-A620B83A7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676650"/>
            <a:ext cx="7124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725" b="0">
                <a:solidFill>
                  <a:srgbClr val="D8E2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D8E2E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D8E2EE"/>
                </a:solidFill>
                <a:latin typeface="Arial"/>
                <a:ea typeface="Arial"/>
                <a:cs typeface="Arial"/>
              </a:rPr>
              <a:t>O runner local aplica Compose, verifica MongoDB e testa criação, leitura e exclusão.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B2F170-D474-4449-A08F-06C8B0D15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95800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40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FBE74C-55AE-4BD1-B0DF-BA77BCD56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86300"/>
            <a:ext cx="3286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42D39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42D392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42D392"/>
                </a:solidFill>
                <a:latin typeface="Arial"/>
                <a:ea typeface="Arial"/>
                <a:cs typeface="Arial"/>
              </a:rPr>
              <a:t>04  Deploy produção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1F0EEA-02D0-4291-96CB-43926FCCB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686300"/>
            <a:ext cx="7124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725" b="0">
                <a:solidFill>
                  <a:srgbClr val="D8E2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D8E2E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D8E2EE"/>
                </a:solidFill>
                <a:latin typeface="Arial"/>
                <a:ea typeface="Arial"/>
                <a:cs typeface="Arial"/>
              </a:rPr>
              <a:t>Após staging, a imagem do commit é reutilizada no Docker do host.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342298-AFE8-45D7-AC22-90A499096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57875"/>
            <a:ext cx="1066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F4C95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F4C95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4C95D"/>
                </a:solidFill>
                <a:latin typeface="Arial"/>
                <a:ea typeface="Arial"/>
                <a:cs typeface="Arial"/>
              </a:rPr>
              <a:t>Pull requests executam CI. Push em main e execução manual autorizam o CD.</a:t>
            </a:r>
          </a:p>
        </p:txBody>
      </p:sp>
    </p:spTree>
    <p:extLst>
      <p:ext uri="{BB962C8B-B14F-4D97-AF65-F5344CB8AC3E}">
        <p14:creationId xmlns:p14="http://schemas.microsoft.com/office/powerpoint/2010/main" val="161009895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AB8E61-3CCF-423F-9764-E3308D4E5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53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87A5A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186D67-889C-497E-8D05-06D63C072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8100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2235"/>
                </a:solidFill>
                <a:latin typeface="Arial"/>
                <a:ea typeface="Arial"/>
                <a:cs typeface="Arial"/>
              </a:rPr>
              <a:t>Deploy persistente e isolamento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DBA34A-FAD4-4244-ACC5-39244BB4D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895350"/>
            <a:ext cx="1028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Staging e produção continuam ativos após o término do pipeline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6F18F3-3381-47C5-984A-40C432447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573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D3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D129EA-B602-43D6-A0A8-D86623160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05575"/>
            <a:ext cx="914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EcoActions API  |  DevOps aplicado a cidades ESG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32D2A5-7E1D-432D-8609-F4A4F68AD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77000"/>
            <a:ext cx="685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87A5A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249FCE-A855-4F5A-929C-78AD95F50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57350"/>
            <a:ext cx="3286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87A5A"/>
                </a:solidFill>
                <a:latin typeface="Arial"/>
                <a:ea typeface="Arial"/>
                <a:cs typeface="Arial"/>
              </a:rPr>
              <a:t>Host de execução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EB6967-CC3B-48B0-A895-151C71AD0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657350"/>
            <a:ext cx="7124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725" b="0">
                <a:solidFill>
                  <a:srgbClr val="1022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02235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2235"/>
                </a:solidFill>
                <a:latin typeface="Arial"/>
                <a:ea typeface="Arial"/>
                <a:cs typeface="Arial"/>
              </a:rPr>
              <a:t>Windows x64, Docker Desktop e PowerShell 7. Runner ecoactions-lab, com rótulo ecoactions-deploy.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F3DD53-5747-47DA-991D-DC8F224F8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86050"/>
            <a:ext cx="3286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87A5A"/>
                </a:solidFill>
                <a:latin typeface="Arial"/>
                <a:ea typeface="Arial"/>
                <a:cs typeface="Arial"/>
              </a:rPr>
              <a:t>Ambientes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B00BB3-1DA4-4B00-B2E2-C82F690DF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686050"/>
            <a:ext cx="7124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725" b="0">
                <a:solidFill>
                  <a:srgbClr val="1022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02235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2235"/>
                </a:solidFill>
                <a:latin typeface="Arial"/>
                <a:ea typeface="Arial"/>
                <a:cs typeface="Arial"/>
              </a:rPr>
              <a:t>Staging na porta 8081 e produção na 8082. Cada projeto Compose mantém rede, banco e volume próprios.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79AFA6-597D-4AF9-B879-60C163ECA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29050"/>
            <a:ext cx="3286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87A5A"/>
                </a:solidFill>
                <a:latin typeface="Arial"/>
                <a:ea typeface="Arial"/>
                <a:cs typeface="Arial"/>
              </a:rPr>
              <a:t>Credenciais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D794AF-5C87-46FE-97EF-3FC367373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829050"/>
            <a:ext cx="7124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725" b="0">
                <a:solidFill>
                  <a:srgbClr val="1022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02235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2235"/>
                </a:solidFill>
                <a:latin typeface="Arial"/>
                <a:ea typeface="Arial"/>
                <a:cs typeface="Arial"/>
              </a:rPr>
              <a:t>Arquivos locais em ECOACTIONS_DEPLOY_ROOT, fora do checkout. A API usa readWrite somente no banco do ambiente.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C53BE0-AE70-41B2-A58B-9CC330848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72050"/>
            <a:ext cx="3286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87A5A"/>
                </a:solidFill>
                <a:latin typeface="Arial"/>
                <a:ea typeface="Arial"/>
                <a:cs typeface="Arial"/>
              </a:rPr>
              <a:t>Operação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4924E8-3754-4618-988C-CEE5E9626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972050"/>
            <a:ext cx="7124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725" b="0">
                <a:solidFill>
                  <a:srgbClr val="1022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02235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2235"/>
                </a:solidFill>
                <a:latin typeface="Arial"/>
                <a:ea typeface="Arial"/>
                <a:cs typeface="Arial"/>
              </a:rPr>
              <a:t>Os serviços continuam com o computador e Docker ativos. O runner é necessário para novos deploys.</a:t>
            </a:r>
          </a:p>
        </p:txBody>
      </p:sp>
    </p:spTree>
    <p:extLst>
      <p:ext uri="{BB962C8B-B14F-4D97-AF65-F5344CB8AC3E}">
        <p14:creationId xmlns:p14="http://schemas.microsoft.com/office/powerpoint/2010/main" val="36112870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5224A5-3DAF-4E2F-B173-6996832FB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53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87A5A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AA3EEC-7889-44C3-A35D-409308211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8100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2235"/>
                </a:solidFill>
                <a:latin typeface="Arial"/>
                <a:ea typeface="Arial"/>
                <a:cs typeface="Arial"/>
              </a:rPr>
              <a:t>Containerização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517493-2657-4E4E-8339-861876D9D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895350"/>
            <a:ext cx="1028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Dockerfile multi-stage com JRE 17 e usuário sem privilégio de root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2873C0-9BAC-4C21-8BF6-FA6CFD7D1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573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D3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CB4CDF-8B45-4E01-BBC5-591DE25D2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05575"/>
            <a:ext cx="914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EcoActions API  |  DevOps aplicado a cidades ESG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22A0ED-CCB2-4A49-B9BE-5ABAF5AF2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77000"/>
            <a:ext cx="685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87A5A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E94C42-6A4D-4C73-9488-FC6808C62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47825"/>
            <a:ext cx="3619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950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87A5A"/>
                </a:solidFill>
                <a:latin typeface="Arial"/>
                <a:ea typeface="Arial"/>
                <a:cs typeface="Arial"/>
              </a:rPr>
              <a:t>Build e execução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173AE8-520E-485D-ADC2-60F1226C4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36195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725" b="0">
                <a:solidFill>
                  <a:srgbClr val="1022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02235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2235"/>
                </a:solidFill>
                <a:latin typeface="Arial"/>
                <a:ea typeface="Arial"/>
                <a:cs typeface="Arial"/>
              </a:rPr>
              <a:t>Build: JDK 17 e Maven Wrapper.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2235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2235"/>
                </a:solidFill>
                <a:latin typeface="Arial"/>
                <a:ea typeface="Arial"/>
                <a:cs typeface="Arial"/>
              </a:rPr>
              <a:t>Runtime: JRE, JAR e health check.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2235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2235"/>
                </a:solidFill>
                <a:latin typeface="Arial"/>
                <a:ea typeface="Arial"/>
                <a:cs typeface="Arial"/>
              </a:rPr>
              <a:t>Usuário: spring:spring.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2235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2235"/>
                </a:solidFill>
                <a:latin typeface="Arial"/>
                <a:ea typeface="Arial"/>
                <a:cs typeface="Arial"/>
              </a:rPr>
              <a:t>Compose: rede e volume por ambiente.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46893B-E43F-4B20-BB56-9147E1CF1BB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2443d6fabc4e46"/>
          <a:srcRect xmlns:a="http://schemas.openxmlformats.org/drawingml/2006/main" l="30578" t="25113" r="1156" b="39706"/>
          <a:stretch xmlns:a="http://schemas.openxmlformats.org/drawingml/2006/main"/>
        </p:blipFill>
        <p:spPr>
          <a:xfrm xmlns:a="http://schemas.openxmlformats.org/drawingml/2006/main">
            <a:off x="4810125" y="1600200"/>
            <a:ext cx="6715125" cy="2714625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7EE6EF-B2D3-431D-B10B-7A73A68FA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76750"/>
            <a:ext cx="10648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098BCF-CE48-4C87-AACA-2B8ED745A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29150"/>
            <a:ext cx="10648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7A5A"/>
                </a:solidFill>
                <a:latin typeface="Arial"/>
                <a:ea typeface="Arial"/>
                <a:cs typeface="Arial"/>
              </a:rPr>
              <a:t>Comandos locais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F81323-70C3-4819-8F4C-DCD566FF4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38725"/>
            <a:ext cx="10648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 b="0">
                <a:solidFill>
                  <a:srgbClr val="1022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0223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2235"/>
                </a:solidFill>
                <a:latin typeface="Arial"/>
                <a:ea typeface="Arial"/>
                <a:cs typeface="Arial"/>
              </a:rPr>
              <a:t>docker build --tag ecoactions-api:local .</a:t>
            </a:r>
          </a:p>
          <a:p xmlns:a="http://schemas.openxmlformats.org/drawingml/2006/main">
            <a:pPr algn="l">
              <a:defRPr sz="1650" b="0">
                <a:solidFill>
                  <a:srgbClr val="10223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2235"/>
                </a:solidFill>
                <a:latin typeface="Arial"/>
                <a:ea typeface="Arial"/>
                <a:cs typeface="Arial"/>
              </a:rPr>
              <a:t>pwsh -File scripts/deploy.ps1 -Environment staging -Image ecoactions-api:local</a:t>
            </a:r>
          </a:p>
          <a:p xmlns:a="http://schemas.openxmlformats.org/drawingml/2006/main">
            <a:pPr algn="l">
              <a:defRPr sz="1650" b="0">
                <a:solidFill>
                  <a:srgbClr val="10223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2235"/>
                </a:solidFill>
                <a:latin typeface="Arial"/>
                <a:ea typeface="Arial"/>
                <a:cs typeface="Arial"/>
              </a:rPr>
              <a:t>pwsh -File scripts/deploy.ps1 -Environment production -Image ecoactions-api:local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049502-DA1A-43DB-AC82-1CAFA98A8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48375"/>
            <a:ext cx="10744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5067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0677D"/>
                </a:solidFill>
                <a:latin typeface="Arial"/>
                <a:ea typeface="Arial"/>
                <a:cs typeface="Arial"/>
              </a:rPr>
              <a:t>Imagem promovida: ecoactions-api:e500df0e9b66cbb88a8895f9aedf5769a1fb4106</a:t>
            </a:r>
          </a:p>
        </p:txBody>
      </p:sp>
    </p:spTree>
    <p:extLst>
      <p:ext uri="{BB962C8B-B14F-4D97-AF65-F5344CB8AC3E}">
        <p14:creationId xmlns:p14="http://schemas.microsoft.com/office/powerpoint/2010/main" val="94894307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FBC4A8-C9B8-4AA4-8836-729943D28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53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42D39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42D392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42D392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5AD2BD-40CB-442B-95E2-4AEA258C0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8100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Execução do pipeline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97CF1B-4E8F-4946-B599-15360955D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895350"/>
            <a:ext cx="1028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8EA3B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8EA3B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8EA3B7"/>
                </a:solidFill>
                <a:latin typeface="Arial"/>
                <a:ea typeface="Arial"/>
                <a:cs typeface="Arial"/>
              </a:rPr>
              <a:t>Execução #7 concluída com sucesso em 4m 45s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308018-1158-4AB0-B92E-D07A2CA11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573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D3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4548A8-4247-4041-9E10-C9B99E7A8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05575"/>
            <a:ext cx="914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8EA3B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8EA3B7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8EA3B7"/>
                </a:solidFill>
                <a:latin typeface="Arial"/>
                <a:ea typeface="Arial"/>
                <a:cs typeface="Arial"/>
              </a:rPr>
              <a:t>EcoActions API  |  DevOps aplicado a cidades ESG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6234D6-ECF6-4A76-AC1C-A51599C2C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77000"/>
            <a:ext cx="685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42D39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>
                <a:solidFill>
                  <a:srgbClr val="42D39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42D392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38ED4D-6A09-4246-AF76-E42E3446CAB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2a71eb88b1422d"/>
          <a:srcRect xmlns:a="http://schemas.openxmlformats.org/drawingml/2006/main" l="1422" t="18891" r="1422" b="36991"/>
          <a:stretch xmlns:a="http://schemas.openxmlformats.org/drawingml/2006/main"/>
        </p:blipFill>
        <p:spPr>
          <a:xfrm xmlns:a="http://schemas.openxmlformats.org/drawingml/2006/main">
            <a:off x="571500" y="1514475"/>
            <a:ext cx="11049000" cy="39433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B8D804-D63B-4B4C-B7FE-86136A2C1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81650"/>
            <a:ext cx="1066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42D39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42D392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42D392"/>
                </a:solidFill>
                <a:latin typeface="Arial"/>
                <a:ea typeface="Arial"/>
                <a:cs typeface="Arial"/>
              </a:rPr>
              <a:t>Commit validado: e500df0e9b66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CC9F7B-AF3C-4594-8933-C37980A5C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10275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8EA3B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8EA3B7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8EA3B7"/>
                </a:solidFill>
                <a:latin typeface="Arial"/>
                <a:ea typeface="Arial"/>
                <a:cs typeface="Arial"/>
              </a:rPr>
              <a:t>https://github.com/Gabriel-Morais102/ecoactions-api/actions/runs/38081156864</a:t>
            </a:r>
          </a:p>
        </p:txBody>
      </p:sp>
    </p:spTree>
    <p:extLst>
      <p:ext uri="{BB962C8B-B14F-4D97-AF65-F5344CB8AC3E}">
        <p14:creationId xmlns:p14="http://schemas.microsoft.com/office/powerpoint/2010/main" val="201778244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6951FA-B1C8-4906-BC55-1F92714D5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53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87A5A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CF1009-2EE1-4E90-A122-5F3231E9F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8100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2235"/>
                </a:solidFill>
                <a:latin typeface="Arial"/>
                <a:ea typeface="Arial"/>
                <a:cs typeface="Arial"/>
              </a:rPr>
              <a:t>Staging funcionando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BA7888-3FF9-4F3B-86C4-28728A983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895350"/>
            <a:ext cx="1028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Ambiente persistente em http://localhost:8081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9DDEED-EA98-4A19-96FE-ABF40B961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573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D3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7CC9DB-4F95-4303-A4C7-6F0767299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05575"/>
            <a:ext cx="914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EcoActions API  |  DevOps aplicado a cidades ESG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AFDF7C-DC46-493F-B707-3456803C8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77000"/>
            <a:ext cx="685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87A5A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734A27-662B-4BD2-80D6-3639D64BA0F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b0554610fd4f1c"/>
          <a:srcRect xmlns:a="http://schemas.openxmlformats.org/drawingml/2006/main" l="30578" t="25000" r="2222" b="68778"/>
          <a:stretch xmlns:a="http://schemas.openxmlformats.org/drawingml/2006/main"/>
        </p:blipFill>
        <p:spPr>
          <a:xfrm xmlns:a="http://schemas.openxmlformats.org/drawingml/2006/main">
            <a:off x="723900" y="1476375"/>
            <a:ext cx="10744200" cy="7810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9A51E3-53A9-412F-8233-41FE1FA40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90775"/>
            <a:ext cx="10744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5067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0677D"/>
                </a:solidFill>
                <a:latin typeface="Arial"/>
                <a:ea typeface="Arial"/>
                <a:cs typeface="Arial"/>
              </a:rPr>
              <a:t>Saída real do smoke test após deploy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942BBA-E7B0-401C-B234-99339F5BB03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1f483705824d6d"/>
          <a:srcRect xmlns:a="http://schemas.openxmlformats.org/drawingml/2006/main" l="4955" t="47477" r="27658" b="24541"/>
          <a:stretch xmlns:a="http://schemas.openxmlformats.org/drawingml/2006/main"/>
        </p:blipFill>
        <p:spPr>
          <a:xfrm xmlns:a="http://schemas.openxmlformats.org/drawingml/2006/main">
            <a:off x="723900" y="2714625"/>
            <a:ext cx="10744200" cy="3495675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C4B181-22A3-4797-9DA9-4DF4814C8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229350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87A5A"/>
                </a:solidFill>
                <a:latin typeface="Arial"/>
                <a:ea typeface="Arial"/>
                <a:cs typeface="Arial"/>
              </a:rPr>
              <a:t>Health UP, consultas autenticadas às 5 áreas e criação/leitura/exclusão de teste: 201/200/204.</a:t>
            </a:r>
          </a:p>
        </p:txBody>
      </p:sp>
    </p:spTree>
    <p:extLst>
      <p:ext uri="{BB962C8B-B14F-4D97-AF65-F5344CB8AC3E}">
        <p14:creationId xmlns:p14="http://schemas.microsoft.com/office/powerpoint/2010/main" val="169252103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4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4DFE4F-3A69-4DE4-855A-90455CAB3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53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87A5A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311DAD-BC9A-4B0E-A997-F5EF99E5F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8100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2235"/>
                </a:solidFill>
                <a:latin typeface="Arial"/>
                <a:ea typeface="Arial"/>
                <a:cs typeface="Arial"/>
              </a:rPr>
              <a:t>Produção funcionando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71D009-893A-4853-92A6-1378EED54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895350"/>
            <a:ext cx="1028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Ambiente persistente em http://localhost:8082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6CD641-3A72-470B-A412-E0EB6757C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573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D3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E643A1-6CFD-45D4-8931-B1A187E73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05575"/>
            <a:ext cx="914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EcoActions API  |  DevOps aplicado a cidades ESG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13A990-3D9E-427F-8229-7A0DE21F6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77000"/>
            <a:ext cx="685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87A5A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2FC53F-BFA7-4B1F-B948-1659B7C0BF7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8f25c2385246aa"/>
          <a:srcRect xmlns:a="http://schemas.openxmlformats.org/drawingml/2006/main" l="30578" t="25000" r="2222" b="68778"/>
          <a:stretch xmlns:a="http://schemas.openxmlformats.org/drawingml/2006/main"/>
        </p:blipFill>
        <p:spPr>
          <a:xfrm xmlns:a="http://schemas.openxmlformats.org/drawingml/2006/main">
            <a:off x="723900" y="1476375"/>
            <a:ext cx="10744200" cy="7810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A9937B-6207-469F-8492-D3FA0FFE7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90775"/>
            <a:ext cx="10744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5067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0677D"/>
                </a:solidFill>
                <a:latin typeface="Arial"/>
                <a:ea typeface="Arial"/>
                <a:cs typeface="Arial"/>
              </a:rPr>
              <a:t>Saída real do smoke test após deploy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F9EDEE-69B7-4BFB-9B63-DD35059DA14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531ea977294737"/>
          <a:srcRect xmlns:a="http://schemas.openxmlformats.org/drawingml/2006/main" l="4955" t="47477" r="27658" b="24541"/>
          <a:stretch xmlns:a="http://schemas.openxmlformats.org/drawingml/2006/main"/>
        </p:blipFill>
        <p:spPr>
          <a:xfrm xmlns:a="http://schemas.openxmlformats.org/drawingml/2006/main">
            <a:off x="723900" y="2714625"/>
            <a:ext cx="10744200" cy="3495675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AFA7AB-BF43-447E-B47F-9F213B61B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229350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87A5A"/>
                </a:solidFill>
                <a:latin typeface="Arial"/>
                <a:ea typeface="Arial"/>
                <a:cs typeface="Arial"/>
              </a:rPr>
              <a:t>Health UP e consultas autenticadas às 5 áreas, com 10 registros em cada resposta.</a:t>
            </a:r>
          </a:p>
        </p:txBody>
      </p:sp>
    </p:spTree>
    <p:extLst>
      <p:ext uri="{BB962C8B-B14F-4D97-AF65-F5344CB8AC3E}">
        <p14:creationId xmlns:p14="http://schemas.microsoft.com/office/powerpoint/2010/main" val="48132121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4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0E72E0-C8D3-4AD1-9CBE-2721D5D6B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53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87A5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7530CA-C257-4FA5-A87D-F8FFB2EDD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8100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2235"/>
                </a:solidFill>
                <a:latin typeface="Arial"/>
                <a:ea typeface="Arial"/>
                <a:cs typeface="Arial"/>
              </a:rPr>
              <a:t>Testes e validação funcional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683300-17C5-4B73-952C-F9F9038C7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895350"/>
            <a:ext cx="1028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33 testes automatizados aprovados na versão entregue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D05308-92CD-47BB-B64D-CF51CDC9C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573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D3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09A818-726C-4E91-AA6A-8EE92CA01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05575"/>
            <a:ext cx="914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EcoActions API  |  DevOps aplicado a cidades ESG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123C24-FE94-41EB-B345-95EF7C01E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77000"/>
            <a:ext cx="685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87A5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3193B0-8770-41B6-9DF6-E5613DF6E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1657350"/>
            <a:ext cx="37242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02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87A5A"/>
                </a:solidFill>
                <a:latin typeface="Arial"/>
                <a:ea typeface="Arial"/>
                <a:cs typeface="Arial"/>
              </a:rPr>
              <a:t>Cobertura verificada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58518A-6FA5-4D6E-92C4-BD3A0BC5E11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4f42edd0374805"/>
          <a:srcRect xmlns:a="http://schemas.openxmlformats.org/drawingml/2006/main" l="30578" t="24208" r="2222" b="31109"/>
          <a:stretch xmlns:a="http://schemas.openxmlformats.org/drawingml/2006/main"/>
        </p:blipFill>
        <p:spPr>
          <a:xfrm xmlns:a="http://schemas.openxmlformats.org/drawingml/2006/main">
            <a:off x="571500" y="1628775"/>
            <a:ext cx="6800850" cy="3552825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8BC91F-E3EE-48AB-A07E-54A126CCE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2247900"/>
            <a:ext cx="37242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1022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102235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2235"/>
                </a:solidFill>
                <a:latin typeface="Arial"/>
                <a:ea typeface="Arial"/>
                <a:cs typeface="Arial"/>
              </a:rPr>
              <a:t>Autenticação, perfis USER/ADMIN e validação de JSON e campos.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19BE9E-CDBD-446C-B123-0E0BB371A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2990850"/>
            <a:ext cx="37242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1022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102235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2235"/>
                </a:solidFill>
                <a:latin typeface="Arial"/>
                <a:ea typeface="Arial"/>
                <a:cs typeface="Arial"/>
              </a:rPr>
              <a:t>Respostas 400, 401, 403, 404, 409 e tratamento seguro de erro 500.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FBF63D-7171-4E09-BB17-3731216E7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3733800"/>
            <a:ext cx="37242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1022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102235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2235"/>
                </a:solidFill>
                <a:latin typeface="Arial"/>
                <a:ea typeface="Arial"/>
                <a:cs typeface="Arial"/>
              </a:rPr>
              <a:t>Coletas respeitam o saldo e exclusões protegem registros vinculados.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BDB15E-1236-45F2-B619-DE55E5429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4476750"/>
            <a:ext cx="37242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1022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102235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2235"/>
                </a:solidFill>
                <a:latin typeface="Arial"/>
                <a:ea typeface="Arial"/>
                <a:cs typeface="Arial"/>
              </a:rPr>
              <a:t>Health consulta o MongoDB e retorna 503 DOWN quando o banco falha.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9506C4-BCA4-4AD1-A28A-B40D71D11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81625"/>
            <a:ext cx="10648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A83BFB-2AC6-4721-8C7D-5A10DABBC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29275"/>
            <a:ext cx="3190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87A5A"/>
                </a:solidFill>
                <a:latin typeface="Arial"/>
                <a:ea typeface="Arial"/>
                <a:cs typeface="Arial"/>
              </a:rPr>
              <a:t>Smoke test de deploy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2FA606-F61A-46FE-8949-1B5FED1A8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5629275"/>
            <a:ext cx="7124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725" b="0">
                <a:solidFill>
                  <a:srgbClr val="1022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02235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2235"/>
                </a:solidFill>
                <a:latin typeface="Arial"/>
                <a:ea typeface="Arial"/>
                <a:cs typeface="Arial"/>
              </a:rPr>
              <a:t>MongoDB acessível, health aprovado e consulta autenticada com dados.</a:t>
            </a:r>
          </a:p>
        </p:txBody>
      </p:sp>
    </p:spTree>
    <p:extLst>
      <p:ext uri="{BB962C8B-B14F-4D97-AF65-F5344CB8AC3E}">
        <p14:creationId xmlns:p14="http://schemas.microsoft.com/office/powerpoint/2010/main" val="113983832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4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316C0F-D7EE-4635-8CF0-C7128C8FE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53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87A5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206969-5930-400A-B2D9-CB8CF9FE9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8100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2235"/>
                </a:solidFill>
                <a:latin typeface="Arial"/>
                <a:ea typeface="Arial"/>
                <a:cs typeface="Arial"/>
              </a:rPr>
              <a:t>Desafios encontrados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69C010-1FD1-4DFB-8E1F-B1220F13C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895350"/>
            <a:ext cx="1028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Correções aplicadas ao pipeline, à aplicação e à documentação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58706D-60DB-46C8-9870-D1AC3C7B7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573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D3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BC52DC-ABEF-4DEB-8275-1F57C036B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05575"/>
            <a:ext cx="914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EcoActions API  |  DevOps aplicado a cidades ESG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7D68FE-5016-4024-84C2-B1E2DFD65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77000"/>
            <a:ext cx="685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87A5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3B78F4-0F44-4C96-BB5C-F7CFC9FED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57350"/>
            <a:ext cx="3286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87A5A"/>
                </a:solidFill>
                <a:latin typeface="Arial"/>
                <a:ea typeface="Arial"/>
                <a:cs typeface="Arial"/>
              </a:rPr>
              <a:t>Deploys eram temporários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6F950A-DE89-4F28-9334-38F446B8A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657350"/>
            <a:ext cx="7124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725" b="0">
                <a:solidFill>
                  <a:srgbClr val="1022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02235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2235"/>
                </a:solidFill>
                <a:latin typeface="Arial"/>
                <a:ea typeface="Arial"/>
                <a:cs typeface="Arial"/>
              </a:rPr>
              <a:t>Um runner local mantém os ambientes ativos e preserva os volumes.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F08834-E6AE-4AC0-AA59-B6CB94618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24125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2BB0F5-11FA-4FEF-83AE-765CB44B9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52725"/>
            <a:ext cx="3286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87A5A"/>
                </a:solidFill>
                <a:latin typeface="Arial"/>
                <a:ea typeface="Arial"/>
                <a:cs typeface="Arial"/>
              </a:rPr>
              <a:t>Health não validava o banco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08A46C-F369-468A-8FEA-8D8793058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752725"/>
            <a:ext cx="7124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725" b="0">
                <a:solidFill>
                  <a:srgbClr val="1022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02235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2235"/>
                </a:solidFill>
                <a:latin typeface="Arial"/>
                <a:ea typeface="Arial"/>
                <a:cs typeface="Arial"/>
              </a:rPr>
              <a:t>O health consulta o MongoDB e o smoke test faz requisições autenticadas.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C91BA5-B078-4ED8-AB65-B91CA3C5F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19500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345B04-C762-4834-A0B7-8F5E82433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48100"/>
            <a:ext cx="3286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638"/>
          </a:bodyPr>
          <a:lstStyle xmlns:a="http://schemas.openxmlformats.org/drawingml/2006/main">
            <a:defPPr algn="l">
              <a:defRPr sz="172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87A5A"/>
                </a:solidFill>
                <a:latin typeface="Arial"/>
                <a:ea typeface="Arial"/>
                <a:cs typeface="Arial"/>
              </a:rPr>
              <a:t>Regras deixavam inconsistências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B36BE7-072F-4097-9BFB-CEA63C4B2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848100"/>
            <a:ext cx="7124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725" b="0">
                <a:solidFill>
                  <a:srgbClr val="1022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02235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2235"/>
                </a:solidFill>
                <a:latin typeface="Arial"/>
                <a:ea typeface="Arial"/>
                <a:cs typeface="Arial"/>
              </a:rPr>
              <a:t>Coleta acima do saldo e exclusão de registros vinculados são rejeitadas.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D94BB5-81EE-418A-81DA-847ABC254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14875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EAEEA9-BD69-4F08-9175-7DB8BCE6B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43475"/>
            <a:ext cx="3286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87A5A"/>
                </a:solidFill>
                <a:latin typeface="Arial"/>
                <a:ea typeface="Arial"/>
                <a:cs typeface="Arial"/>
              </a:rPr>
              <a:t>Transferência de imagem lenta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E99104-8E14-4AD3-AABA-312BC1DB9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943475"/>
            <a:ext cx="7124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725" b="0">
                <a:solidFill>
                  <a:srgbClr val="1022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02235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2235"/>
                </a:solidFill>
                <a:latin typeface="Arial"/>
                <a:ea typeface="Arial"/>
                <a:cs typeface="Arial"/>
              </a:rPr>
              <a:t>Artefato comprimido e reutilização da imagem no deploy de produção.</a:t>
            </a:r>
          </a:p>
        </p:txBody>
      </p:sp>
    </p:spTree>
    <p:extLst>
      <p:ext uri="{BB962C8B-B14F-4D97-AF65-F5344CB8AC3E}">
        <p14:creationId xmlns:p14="http://schemas.microsoft.com/office/powerpoint/2010/main" val="123596548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4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386C5E-892C-48D3-A687-BE4858587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53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87A5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7A8A6D-32B1-468E-9629-781B97A8C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8100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0223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2235"/>
                </a:solidFill>
                <a:latin typeface="Arial"/>
                <a:ea typeface="Arial"/>
                <a:cs typeface="Arial"/>
              </a:rPr>
              <a:t>Checklist da entrega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006C93-A9BF-422D-AF3C-6BA868BD8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895350"/>
            <a:ext cx="1028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Arquivos, configuração e evidências da versão final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20EA76-2F33-49E5-A594-738ECFC9C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573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D3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E45B33-AF1C-4FB7-8416-E88085585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05575"/>
            <a:ext cx="914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0677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0677D"/>
                </a:solidFill>
                <a:latin typeface="Arial"/>
                <a:ea typeface="Arial"/>
                <a:cs typeface="Arial"/>
              </a:rPr>
              <a:t>EcoActions API  |  DevOps aplicado a cidades ESG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696972-4BC6-4944-A72C-A01EAC563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77000"/>
            <a:ext cx="685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87A5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DB3D4E-C247-4770-B967-2747AE4967C3}"/>
              </a:ext>
            </a:extLst>
          </p:cNvPr>
          <p:cNvGraphicFramePr/>
          <p:nvPr/>
        </p:nvGraphicFramePr>
        <p:xfrm>
          <a:off xmlns:a="http://schemas.openxmlformats.org/drawingml/2006/main" x="723900" y="1600200"/>
          <a:ext xmlns:a="http://schemas.openxmlformats.org/drawingml/2006/main" cx="10744200" cy="41148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9525000"/>
                <a:gridCol w="1219200"/>
              </a:tblGrid>
              <a:tr h="514350">
                <a:tc>
                  <a:txBody>
                    <a:bodyPr lIns="95250" tIns="95250" rIns="95250" bIns="95250">
                      <a:normAutofit/>
                    </a:bodyPr>
                    <a:lstStyle/>
                    <a:p>
                      <a:pPr algn="l"/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Item</a:t>
                      </a:r>
                    </a:p>
                  </a:txBody>
                  <a:tcPr marL="91440" marR="91440" marT="45720" marB="45720" anchor="ctr">
                    <a:solidFill>
                      <a:srgbClr val="12263A"/>
                    </a:solidFill>
                  </a:tcPr>
                </a:tc>
                <a:tc>
                  <a:txBody>
                    <a:bodyPr lIns="95250" tIns="95250" rIns="95250" bIns="95250">
                      <a:normAutofit/>
                    </a:bodyPr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OK</a:t>
                      </a:r>
                    </a:p>
                  </a:txBody>
                  <a:tcPr marL="91440" marR="91440" marT="45720" marB="45720" anchor="ctr">
                    <a:solidFill>
                      <a:srgbClr val="12263A"/>
                    </a:solidFill>
                  </a:tcPr>
                </a:tc>
              </a:tr>
              <a:tr h="514350">
                <a:tc>
                  <a:txBody>
                    <a:bodyPr lIns="95250" tIns="95250" rIns="95250" bIns="95250">
                      <a:normAutofit/>
                    </a:bodyPr>
                    <a:lstStyle/>
                    <a:p>
                      <a:pPr algn="l"/>
                      <a:r>
                        <a:rPr sz="1575" b="0">
                          <a:solidFill>
                            <a:srgbClr val="102235"/>
                          </a:solidFill>
                          <a:latin typeface="Arial"/>
                          <a:ea typeface="Arial"/>
                          <a:cs typeface="Arial"/>
                        </a:rPr>
                        <a:t>Projeto compactado em ZIP com estrutura organizada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>
                      <a:normAutofit/>
                    </a:bodyPr>
                    <a:lstStyle/>
                    <a:p>
                      <a:pPr algn="ctr"/>
                      <a:r>
                        <a:rPr sz="1575" b="1">
                          <a:solidFill>
                            <a:srgbClr val="187A5A"/>
                          </a:solidFill>
                          <a:latin typeface="Arial"/>
                          <a:ea typeface="Arial"/>
                          <a:cs typeface="Arial"/>
                        </a:rPr>
                        <a:t>☑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 lIns="95250" tIns="95250" rIns="95250" bIns="95250">
                      <a:normAutofit/>
                    </a:bodyPr>
                    <a:lstStyle/>
                    <a:p>
                      <a:pPr algn="l"/>
                      <a:r>
                        <a:rPr sz="1575" b="0">
                          <a:solidFill>
                            <a:srgbClr val="102235"/>
                          </a:solidFill>
                          <a:latin typeface="Arial"/>
                          <a:ea typeface="Arial"/>
                          <a:cs typeface="Arial"/>
                        </a:rPr>
                        <a:t>Dockerfile funcional</a:t>
                      </a:r>
                    </a:p>
                  </a:txBody>
                  <a:tcPr marL="91440" marR="91440" marT="45720" marB="45720" anchor="ctr">
                    <a:solidFill>
                      <a:srgbClr val="F7FAFC"/>
                    </a:solidFill>
                  </a:tcPr>
                </a:tc>
                <a:tc>
                  <a:txBody>
                    <a:bodyPr lIns="95250" tIns="95250" rIns="95250" bIns="95250">
                      <a:normAutofit/>
                    </a:bodyPr>
                    <a:lstStyle/>
                    <a:p>
                      <a:pPr algn="ctr"/>
                      <a:r>
                        <a:rPr sz="1575" b="1">
                          <a:solidFill>
                            <a:srgbClr val="187A5A"/>
                          </a:solidFill>
                          <a:latin typeface="Arial"/>
                          <a:ea typeface="Arial"/>
                          <a:cs typeface="Arial"/>
                        </a:rPr>
                        <a:t>☑</a:t>
                      </a:r>
                    </a:p>
                  </a:txBody>
                  <a:tcPr marL="91440" marR="91440" marT="45720" marB="45720" anchor="ctr">
                    <a:solidFill>
                      <a:srgbClr val="F7FAFC"/>
                    </a:solidFill>
                  </a:tcPr>
                </a:tc>
              </a:tr>
              <a:tr h="514350">
                <a:tc>
                  <a:txBody>
                    <a:bodyPr lIns="95250" tIns="95250" rIns="95250" bIns="95250">
                      <a:normAutofit/>
                    </a:bodyPr>
                    <a:lstStyle/>
                    <a:p>
                      <a:pPr algn="l"/>
                      <a:r>
                        <a:rPr sz="1575" b="0">
                          <a:solidFill>
                            <a:srgbClr val="102235"/>
                          </a:solidFill>
                          <a:latin typeface="Arial"/>
                          <a:ea typeface="Arial"/>
                          <a:cs typeface="Arial"/>
                        </a:rPr>
                        <a:t>Docker Compose com volume, rede e variáveis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>
                      <a:normAutofit/>
                    </a:bodyPr>
                    <a:lstStyle/>
                    <a:p>
                      <a:pPr algn="ctr"/>
                      <a:r>
                        <a:rPr sz="1575" b="1">
                          <a:solidFill>
                            <a:srgbClr val="187A5A"/>
                          </a:solidFill>
                          <a:latin typeface="Arial"/>
                          <a:ea typeface="Arial"/>
                          <a:cs typeface="Arial"/>
                        </a:rPr>
                        <a:t>☑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 lIns="95250" tIns="95250" rIns="95250" bIns="95250">
                      <a:normAutofit/>
                    </a:bodyPr>
                    <a:lstStyle/>
                    <a:p>
                      <a:pPr algn="l"/>
                      <a:r>
                        <a:rPr sz="1575" b="0">
                          <a:solidFill>
                            <a:srgbClr val="102235"/>
                          </a:solidFill>
                          <a:latin typeface="Arial"/>
                          <a:ea typeface="Arial"/>
                          <a:cs typeface="Arial"/>
                        </a:rPr>
                        <a:t>Pipeline com build, testes e deploy</a:t>
                      </a:r>
                    </a:p>
                  </a:txBody>
                  <a:tcPr marL="91440" marR="91440" marT="45720" marB="45720" anchor="ctr">
                    <a:solidFill>
                      <a:srgbClr val="F7FAFC"/>
                    </a:solidFill>
                  </a:tcPr>
                </a:tc>
                <a:tc>
                  <a:txBody>
                    <a:bodyPr lIns="95250" tIns="95250" rIns="95250" bIns="95250">
                      <a:normAutofit/>
                    </a:bodyPr>
                    <a:lstStyle/>
                    <a:p>
                      <a:pPr algn="ctr"/>
                      <a:r>
                        <a:rPr sz="1575" b="1">
                          <a:solidFill>
                            <a:srgbClr val="187A5A"/>
                          </a:solidFill>
                          <a:latin typeface="Arial"/>
                          <a:ea typeface="Arial"/>
                          <a:cs typeface="Arial"/>
                        </a:rPr>
                        <a:t>☑</a:t>
                      </a:r>
                    </a:p>
                  </a:txBody>
                  <a:tcPr marL="91440" marR="91440" marT="45720" marB="45720" anchor="ctr">
                    <a:solidFill>
                      <a:srgbClr val="F7FAFC"/>
                    </a:solidFill>
                  </a:tcPr>
                </a:tc>
              </a:tr>
              <a:tr h="514350">
                <a:tc>
                  <a:txBody>
                    <a:bodyPr lIns="95250" tIns="95250" rIns="95250" bIns="95250">
                      <a:normAutofit/>
                    </a:bodyPr>
                    <a:lstStyle/>
                    <a:p>
                      <a:pPr algn="l"/>
                      <a:r>
                        <a:rPr sz="1575" b="0">
                          <a:solidFill>
                            <a:srgbClr val="102235"/>
                          </a:solidFill>
                          <a:latin typeface="Arial"/>
                          <a:ea typeface="Arial"/>
                          <a:cs typeface="Arial"/>
                        </a:rPr>
                        <a:t>README com instruções e evidências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>
                      <a:normAutofit/>
                    </a:bodyPr>
                    <a:lstStyle/>
                    <a:p>
                      <a:pPr algn="ctr"/>
                      <a:r>
                        <a:rPr sz="1575" b="1">
                          <a:solidFill>
                            <a:srgbClr val="187A5A"/>
                          </a:solidFill>
                          <a:latin typeface="Arial"/>
                          <a:ea typeface="Arial"/>
                          <a:cs typeface="Arial"/>
                        </a:rPr>
                        <a:t>☑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 lIns="95250" tIns="95250" rIns="95250" bIns="95250">
                      <a:normAutofit/>
                    </a:bodyPr>
                    <a:lstStyle/>
                    <a:p>
                      <a:pPr algn="l"/>
                      <a:r>
                        <a:rPr sz="1575" b="0">
                          <a:solidFill>
                            <a:srgbClr val="102235"/>
                          </a:solidFill>
                          <a:latin typeface="Arial"/>
                          <a:ea typeface="Arial"/>
                          <a:cs typeface="Arial"/>
                        </a:rPr>
                        <a:t>Documentação técnica com evidências em PPT</a:t>
                      </a:r>
                    </a:p>
                  </a:txBody>
                  <a:tcPr marL="91440" marR="91440" marT="45720" marB="45720" anchor="ctr">
                    <a:solidFill>
                      <a:srgbClr val="F7FAFC"/>
                    </a:solidFill>
                  </a:tcPr>
                </a:tc>
                <a:tc>
                  <a:txBody>
                    <a:bodyPr lIns="95250" tIns="95250" rIns="95250" bIns="95250">
                      <a:normAutofit/>
                    </a:bodyPr>
                    <a:lstStyle/>
                    <a:p>
                      <a:pPr algn="ctr"/>
                      <a:r>
                        <a:rPr sz="1575" b="1">
                          <a:solidFill>
                            <a:srgbClr val="187A5A"/>
                          </a:solidFill>
                          <a:latin typeface="Arial"/>
                          <a:ea typeface="Arial"/>
                          <a:cs typeface="Arial"/>
                        </a:rPr>
                        <a:t>☑</a:t>
                      </a:r>
                    </a:p>
                  </a:txBody>
                  <a:tcPr marL="91440" marR="91440" marT="45720" marB="45720" anchor="ctr">
                    <a:solidFill>
                      <a:srgbClr val="F7FAFC"/>
                    </a:solidFill>
                  </a:tcPr>
                </a:tc>
              </a:tr>
              <a:tr h="514350">
                <a:tc>
                  <a:txBody>
                    <a:bodyPr lIns="95250" tIns="95250" rIns="95250" bIns="95250">
                      <a:normAutofit/>
                    </a:bodyPr>
                    <a:lstStyle/>
                    <a:p>
                      <a:pPr algn="l"/>
                      <a:r>
                        <a:rPr sz="1575" b="0">
                          <a:solidFill>
                            <a:srgbClr val="102235"/>
                          </a:solidFill>
                          <a:latin typeface="Arial"/>
                          <a:ea typeface="Arial"/>
                          <a:cs typeface="Arial"/>
                        </a:rPr>
                        <a:t>Deploy realizado em staging e produção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>
                      <a:normAutofit/>
                    </a:bodyPr>
                    <a:lstStyle/>
                    <a:p>
                      <a:pPr algn="ctr"/>
                      <a:r>
                        <a:rPr sz="1575" b="1">
                          <a:solidFill>
                            <a:srgbClr val="187A5A"/>
                          </a:solidFill>
                          <a:latin typeface="Arial"/>
                          <a:ea typeface="Arial"/>
                          <a:cs typeface="Arial"/>
                        </a:rPr>
                        <a:t>☑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1E3DD6-BCA6-44A8-9826-753031299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53125"/>
            <a:ext cx="1066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87A5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7A5A"/>
                </a:solidFill>
                <a:latin typeface="Arial"/>
                <a:ea typeface="Arial"/>
                <a:cs typeface="Arial"/>
              </a:rPr>
              <a:t>Validação: 10/10/2026 (horário de Brasília)</a:t>
            </a:r>
          </a:p>
        </p:txBody>
      </p:sp>
    </p:spTree>
    <p:extLst>
      <p:ext uri="{BB962C8B-B14F-4D97-AF65-F5344CB8AC3E}">
        <p14:creationId xmlns:p14="http://schemas.microsoft.com/office/powerpoint/2010/main" val="9108534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ns0:Properties xmlns:ns0="http://schemas.openxmlformats.org/officeDocument/2006/extended-properties">
  <ns0:Slides>0</ns0:Slides>
  <ns0:Notes>0</ns0:Notes>
  <ns0:HiddenSlides>0</ns0:HiddenSlides>
  <ns0:SharedDoc>false</ns0:SharedDoc>
  <ns0:DocSecurity>0</ns0:DocSecurity>
</ns0:Properties>
</file>

<file path=docProps/core.xml><?xml version="1.0" encoding="utf-8"?>
<ns0:coreProperties xmlns:dc="http://purl.org/dc/elements/1.1/" xmlns:ns0="http://schemas.openxmlformats.org/package/2006/metadata/core-properties">
  <dc:title>Presentation</dc:title>
</ns0:coreProperties>
</file>