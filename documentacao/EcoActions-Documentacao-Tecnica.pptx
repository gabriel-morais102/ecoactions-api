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2944240f90b4f38" /><Relationship Type="http://schemas.openxmlformats.org/officeDocument/2006/relationships/extended-properties" Target="/docProps/app.xml" Id="Re70c43a312984be4" /><Relationship Type="http://schemas.openxmlformats.org/officeDocument/2006/relationships/officeDocument" Target="/ppt/presentation.xml" Id="R1c9632f69c564f0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1d267bb79ba4574"/>
  </p:sldMasterIdLst>
  <p:notesMasterIdLst>
    <p:notesMasterId xmlns:r="http://schemas.openxmlformats.org/officeDocument/2006/relationships" r:id="Rb78743bbef3d4f05"/>
  </p:notesMasterIdLst>
  <p:sldIdLst>
    <p:sldId xmlns:r="http://schemas.openxmlformats.org/officeDocument/2006/relationships" id="256" r:id="Rb37563728c1d43db"/>
    <p:sldId xmlns:r="http://schemas.openxmlformats.org/officeDocument/2006/relationships" id="257" r:id="Rc462099a3ef6471f"/>
    <p:sldId xmlns:r="http://schemas.openxmlformats.org/officeDocument/2006/relationships" id="258" r:id="R5dc4d2d580564b3e"/>
    <p:sldId xmlns:r="http://schemas.openxmlformats.org/officeDocument/2006/relationships" id="259" r:id="R1e634df4389048bc"/>
    <p:sldId xmlns:r="http://schemas.openxmlformats.org/officeDocument/2006/relationships" id="260" r:id="R13fa8bbd81c94366"/>
    <p:sldId xmlns:r="http://schemas.openxmlformats.org/officeDocument/2006/relationships" id="261" r:id="R22a61129a3c44a29"/>
    <p:sldId xmlns:r="http://schemas.openxmlformats.org/officeDocument/2006/relationships" id="262" r:id="Rad7a4b7051e04c8c"/>
    <p:sldId xmlns:r="http://schemas.openxmlformats.org/officeDocument/2006/relationships" id="263" r:id="R04c6bb434dc644e8"/>
    <p:sldId xmlns:r="http://schemas.openxmlformats.org/officeDocument/2006/relationships" id="264" r:id="R00cb43eeef68474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0b376df646a4544" /><Relationship Type="http://schemas.openxmlformats.org/officeDocument/2006/relationships/slideMaster" Target="/ppt/slideMasters/slideMaster1.xml" Id="R31d267bb79ba4574" /><Relationship Type="http://schemas.openxmlformats.org/officeDocument/2006/relationships/notesMaster" Target="/ppt/notesMasters/notesMaster1.xml" Id="Rb78743bbef3d4f05" /><Relationship Type="http://schemas.openxmlformats.org/officeDocument/2006/relationships/presProps" Target="/ppt/presProps.xml" Id="R05be902b72b24c0a" /><Relationship Type="http://schemas.openxmlformats.org/officeDocument/2006/relationships/tableStyles" Target="/ppt/tableStyles.xml" Id="R21d5d5704e2c4ba3" /><Relationship Type="http://schemas.openxmlformats.org/officeDocument/2006/relationships/slide" Target="/ppt/slides/slide1.xml" Id="Rb37563728c1d43db" /><Relationship Type="http://schemas.openxmlformats.org/officeDocument/2006/relationships/slide" Target="/ppt/slides/slide2.xml" Id="Rc462099a3ef6471f" /><Relationship Type="http://schemas.openxmlformats.org/officeDocument/2006/relationships/slide" Target="/ppt/slides/slide3.xml" Id="R5dc4d2d580564b3e" /><Relationship Type="http://schemas.openxmlformats.org/officeDocument/2006/relationships/slide" Target="/ppt/slides/slide4.xml" Id="R1e634df4389048bc" /><Relationship Type="http://schemas.openxmlformats.org/officeDocument/2006/relationships/slide" Target="/ppt/slides/slide5.xml" Id="R13fa8bbd81c94366" /><Relationship Type="http://schemas.openxmlformats.org/officeDocument/2006/relationships/slide" Target="/ppt/slides/slide6.xml" Id="R22a61129a3c44a29" /><Relationship Type="http://schemas.openxmlformats.org/officeDocument/2006/relationships/slide" Target="/ppt/slides/slide7.xml" Id="Rad7a4b7051e04c8c" /><Relationship Type="http://schemas.openxmlformats.org/officeDocument/2006/relationships/slide" Target="/ppt/slides/slide8.xml" Id="R04c6bb434dc644e8" /><Relationship Type="http://schemas.openxmlformats.org/officeDocument/2006/relationships/slide" Target="/ppt/slides/slide9.xml" Id="R00cb43eeef68474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29b73f944aa4aa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e09eac140784cd6" /><Relationship Type="http://schemas.openxmlformats.org/officeDocument/2006/relationships/notesMaster" Target="/ppt/notesMasters/notesMaster1.xml" Id="R0a8c7d3896d14bb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49e27aef1fc409f" /><Relationship Type="http://schemas.openxmlformats.org/officeDocument/2006/relationships/notesMaster" Target="/ppt/notesMasters/notesMaster1.xml" Id="Rcf7a88ae434e413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15c8def80e343f7" /><Relationship Type="http://schemas.openxmlformats.org/officeDocument/2006/relationships/notesMaster" Target="/ppt/notesMasters/notesMaster1.xml" Id="Rfaa5304b5b4b45d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06a69fadf614726" /><Relationship Type="http://schemas.openxmlformats.org/officeDocument/2006/relationships/notesMaster" Target="/ppt/notesMasters/notesMaster1.xml" Id="Rbb9b089d57174e2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a8c751be52e4318" /><Relationship Type="http://schemas.openxmlformats.org/officeDocument/2006/relationships/notesMaster" Target="/ppt/notesMasters/notesMaster1.xml" Id="Rb968bd1983634d1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65fa0962185471c" /><Relationship Type="http://schemas.openxmlformats.org/officeDocument/2006/relationships/notesMaster" Target="/ppt/notesMasters/notesMaster1.xml" Id="R7ee0f23d0a4e450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dc82c2f67754144" /><Relationship Type="http://schemas.openxmlformats.org/officeDocument/2006/relationships/notesMaster" Target="/ppt/notesMasters/notesMaster1.xml" Id="R6b28e289b1ef4a6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6021d10f89f4b13" /><Relationship Type="http://schemas.openxmlformats.org/officeDocument/2006/relationships/notesMaster" Target="/ppt/notesMasters/notesMaster1.xml" Id="R08d1ec45d892428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064336877804375" /><Relationship Type="http://schemas.openxmlformats.org/officeDocument/2006/relationships/notesMaster" Target="/ppt/notesMasters/notesMaster1.xml" Id="R77d87fe4a7814d3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d2a9573c354f0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8ad6944c8f94f0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a4a35c339374c20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f0f1bd52a2a462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6406e9aaad4411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d17efbd68cd44a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33AB64E-2C66-490A-9578-2DFE1E0ACEF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0E22D0E2-9C09-459C-B003-4E75EE8CF7E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499CB5AE-A589-4B89-B079-854D53F315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490ACC4-14E2-4C9F-8928-E8F5B17F0E7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D11EEA15-857B-4B2F-9728-13C68321990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4EE4D24F-8C1D-4D3C-B981-022CE95B599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09C5C1C-BE6C-4BF2-A91C-F407BE313A4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82AC10A6-C3CD-4662-9B51-C31D8AC50AD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F8DB231-4DFC-40F0-AA63-55D3F1F798E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5DC429B8-DAC6-486C-9D0C-76A811D9528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2e7adbd13624220" /><Relationship Type="http://schemas.openxmlformats.org/officeDocument/2006/relationships/slideLayout" Target="/ppt/slideLayouts/slideLayout1.xml" Id="R9cb3dd1905cc45ae" /><Relationship Type="http://schemas.openxmlformats.org/officeDocument/2006/relationships/slideLayout" Target="/ppt/slideLayouts/slideLayout2.xml" Id="R8bc706b590d24d6e" /><Relationship Type="http://schemas.openxmlformats.org/officeDocument/2006/relationships/slideLayout" Target="/ppt/slideLayouts/slideLayout3.xml" Id="R87b09fd1e2614631" /><Relationship Type="http://schemas.openxmlformats.org/officeDocument/2006/relationships/slideLayout" Target="/ppt/slideLayouts/slideLayout4.xml" Id="R4c6c9d57e8774440" /><Relationship Type="http://schemas.openxmlformats.org/officeDocument/2006/relationships/slideLayout" Target="/ppt/slideLayouts/slideLayout5.xml" Id="R2c599f7665414914" /><Relationship Type="http://schemas.openxmlformats.org/officeDocument/2006/relationships/slideLayout" Target="/ppt/slideLayouts/slideLayout6.xml" Id="R75aa453512ec461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cb3dd1905cc45ae"/>
    <p:sldLayoutId xmlns:r="http://schemas.openxmlformats.org/officeDocument/2006/relationships" id="2147483650" r:id="R8bc706b590d24d6e"/>
    <p:sldLayoutId xmlns:r="http://schemas.openxmlformats.org/officeDocument/2006/relationships" id="2147483651" r:id="R87b09fd1e2614631"/>
    <p:sldLayoutId xmlns:r="http://schemas.openxmlformats.org/officeDocument/2006/relationships" id="2147483652" r:id="R4c6c9d57e8774440"/>
    <p:sldLayoutId xmlns:r="http://schemas.openxmlformats.org/officeDocument/2006/relationships" id="2147483653" r:id="R2c599f7665414914"/>
    <p:sldLayoutId xmlns:r="http://schemas.openxmlformats.org/officeDocument/2006/relationships" id="2147483654" r:id="R75aa453512ec461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3dcae560c274b25" /><Relationship Type="http://schemas.openxmlformats.org/officeDocument/2006/relationships/image" Target="/ppt/media/image.png" Id="Re4aa7233faef4f21" /><Relationship Type="http://schemas.openxmlformats.org/officeDocument/2006/relationships/notesSlide" Target="/ppt/notesSlides/notesSlide1.xml" Id="R02b5b87d01f5444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c2f1f6d282b4484" /><Relationship Type="http://schemas.openxmlformats.org/officeDocument/2006/relationships/notesSlide" Target="/ppt/notesSlides/notesSlide2.xml" Id="R7441889289d548c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762492b19e04320" /><Relationship Type="http://schemas.openxmlformats.org/officeDocument/2006/relationships/notesSlide" Target="/ppt/notesSlides/notesSlide3.xml" Id="Rffe38f0576ec414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d33b9d192e646f1" /><Relationship Type="http://schemas.openxmlformats.org/officeDocument/2006/relationships/notesSlide" Target="/ppt/notesSlides/notesSlide4.xml" Id="R92954b958a954c0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d7d282b294e4a1c" /><Relationship Type="http://schemas.openxmlformats.org/officeDocument/2006/relationships/image" Target="/ppt/media/image2.png" Id="R2303361aaf244d24" /><Relationship Type="http://schemas.openxmlformats.org/officeDocument/2006/relationships/notesSlide" Target="/ppt/notesSlides/notesSlide5.xml" Id="R32f07d21ee004d8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fd77816fa194409" /><Relationship Type="http://schemas.openxmlformats.org/officeDocument/2006/relationships/image" Target="/ppt/media/image3.png" Id="Rf3af4c966cb543ff" /><Relationship Type="http://schemas.openxmlformats.org/officeDocument/2006/relationships/notesSlide" Target="/ppt/notesSlides/notesSlide6.xml" Id="R3752ae676131470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f50952e233f41a9" /><Relationship Type="http://schemas.openxmlformats.org/officeDocument/2006/relationships/image" Target="/ppt/media/image4.png" Id="Ra8b30ab79eae4f1d" /><Relationship Type="http://schemas.openxmlformats.org/officeDocument/2006/relationships/image" Target="/ppt/media/image5.png" Id="R4a34a16f7d0f4384" /><Relationship Type="http://schemas.openxmlformats.org/officeDocument/2006/relationships/notesSlide" Target="/ppt/notesSlides/notesSlide7.xml" Id="Rc689948988c543b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e441197fa6543dd" /><Relationship Type="http://schemas.openxmlformats.org/officeDocument/2006/relationships/notesSlide" Target="/ppt/notesSlides/notesSlide8.xml" Id="R8af796d48393489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bfe0e66be7a4d02" /><Relationship Type="http://schemas.openxmlformats.org/officeDocument/2006/relationships/notesSlide" Target="/ppt/notesSlides/notesSlide9.xml" Id="R7b6b2d2571774b9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0CBB65-9CD2-4719-909C-6F590A776AE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aa7233faef4f21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EF3CBA-4224-494C-A30D-203B34EF2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048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42D39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42D392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42D392"/>
                </a:solidFill>
                <a:latin typeface="Arial"/>
                <a:ea typeface="Arial"/>
                <a:cs typeface="Arial"/>
              </a:rPr>
              <a:t>ATIVIDADE AVALIATIVA  |  DEVOPS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EDA885-E6CD-4994-82A2-590E8EA31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5334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EcoActions API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4B85DB-1F5A-4B33-AD17-FD9294587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57450"/>
            <a:ext cx="5048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025" b="0">
                <a:solidFill>
                  <a:srgbClr val="D8E2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D8E2EE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D8E2EE"/>
                </a:solidFill>
                <a:latin typeface="Arial"/>
                <a:ea typeface="Arial"/>
                <a:cs typeface="Arial"/>
              </a:rPr>
              <a:t>DevOps aplicado a cidades ESG inteligentes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61470F-2604-40FD-AF46-1F8178003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86150"/>
            <a:ext cx="3810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D392"/>
          </a:solidFill>
          <a:ln xmlns:a="http://schemas.openxmlformats.org/drawingml/2006/main" w="0">
            <a:solidFill>
              <a:srgbClr val="42D39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F1ED30-BD22-4822-96D1-59B685F5D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5715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Integrante: Gabriel Elias Lopes de Morais</a:t>
            </a:r>
          </a:p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RM 566281 | Turma 2TDSOD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ECA4AA-8312-4EC7-9973-BDE874577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29325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050" b="0">
                <a:solidFill>
                  <a:srgbClr val="8EA3B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8EA3B7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8EA3B7"/>
                </a:solidFill>
                <a:latin typeface="Arial"/>
                <a:ea typeface="Arial"/>
                <a:cs typeface="Arial"/>
              </a:rPr>
              <a:t>Java 17  |  Spring Boot  |  MongoDB  |  Docker  |  GitHub Actions</a:t>
            </a:r>
          </a:p>
        </p:txBody>
      </p:sp>
    </p:spTree>
    <p:extLst>
      <p:ext uri="{BB962C8B-B14F-4D97-AF65-F5344CB8AC3E}">
        <p14:creationId xmlns:p14="http://schemas.microsoft.com/office/powerpoint/2010/main" val="62843190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A227291-13A3-45A6-A9D6-430CA25B7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53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87A5A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D648A8-3576-4A24-8777-873FE6F06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81000"/>
            <a:ext cx="962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2235"/>
                </a:solidFill>
                <a:latin typeface="Arial"/>
                <a:ea typeface="Arial"/>
                <a:cs typeface="Arial"/>
              </a:rPr>
              <a:t>Problema ESG e proposta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C65C15-2E26-4F66-A835-C8CC0C937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866775"/>
            <a:ext cx="962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0677D"/>
                </a:solidFill>
                <a:latin typeface="Arial"/>
                <a:ea typeface="Arial"/>
                <a:cs typeface="Arial"/>
              </a:rPr>
              <a:t>Gestão rastreável do descarte até a destinação final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126E90-A2D0-4BD2-883A-5D6353ECC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10896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D392"/>
          </a:solidFill>
          <a:ln xmlns:a="http://schemas.openxmlformats.org/drawingml/2006/main" w="0">
            <a:solidFill>
              <a:srgbClr val="42D39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B849D4-DE6B-44FB-891E-AF43CFF62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41719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725" b="0">
                <a:solidFill>
                  <a:srgbClr val="1022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02235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2235"/>
                </a:solidFill>
                <a:latin typeface="Arial"/>
                <a:ea typeface="Arial"/>
                <a:cs typeface="Arial"/>
              </a:rPr>
              <a:t>A gestão de resíduos urbanos exige dados consistentes sobre materiais, pontos de coleta e destinações. O EcoActions reúne essas informações em uma API REST e cria alertas quando um ponto precisa de atenção.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DF888C-34D8-4C01-AC99-B81832656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87A5A"/>
                </a:solidFill>
                <a:latin typeface="Arial"/>
                <a:ea typeface="Arial"/>
                <a:cs typeface="Arial"/>
              </a:rPr>
              <a:t>A aplicação apoia decisões ambientais sem misturar dados de homologação e produção.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FDE869-2778-41BD-8456-E80A3022B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1543050"/>
            <a:ext cx="56769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5E2E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55E14F-BB34-4C64-A018-EC22827F6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1657350"/>
            <a:ext cx="552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38BDF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38BDF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8BDF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1AAAD7-4E3E-4BE9-B818-8353FD4BD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619250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2235"/>
                </a:solidFill>
                <a:latin typeface="Arial"/>
                <a:ea typeface="Arial"/>
                <a:cs typeface="Arial"/>
              </a:rPr>
              <a:t>Resíduo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BD86C3-840F-4435-870A-4E3DC120B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400300"/>
            <a:ext cx="56769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5E2E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951294-AA42-40A4-AF78-C93074E7F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2514600"/>
            <a:ext cx="552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38BDF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38BDF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8BDF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AE4918-2B8E-45B2-84E8-665EAFB92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476500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4203"/>
          </a:bodyPr>
          <a:lstStyle xmlns:a="http://schemas.openxmlformats.org/drawingml/2006/main">
            <a:defPPr algn="l">
              <a:defRPr sz="1725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2235"/>
                </a:solidFill>
                <a:latin typeface="Arial"/>
                <a:ea typeface="Arial"/>
                <a:cs typeface="Arial"/>
              </a:rPr>
              <a:t>Ponto de</a:t>
            </a:r>
          </a:p>
          <a:p xmlns:a="http://schemas.openxmlformats.org/drawingml/2006/main">
            <a:pPr algn="l">
              <a:defRPr sz="1725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2235"/>
                </a:solidFill>
                <a:latin typeface="Arial"/>
                <a:ea typeface="Arial"/>
                <a:cs typeface="Arial"/>
              </a:rPr>
              <a:t>coleta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0EC8B9-4D60-4DF5-B89E-A5366E7BC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257550"/>
            <a:ext cx="56769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5E2E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DF88E5-D019-4077-A2EB-158F09D0A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3371850"/>
            <a:ext cx="552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38BDF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38BDF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8BDF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9C05A0-3C8D-4A5D-8203-A064282F0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333750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2235"/>
                </a:solidFill>
                <a:latin typeface="Arial"/>
                <a:ea typeface="Arial"/>
                <a:cs typeface="Arial"/>
              </a:rPr>
              <a:t>Coleta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6C82360-BFA8-4682-9816-85D4E5ED2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4114800"/>
            <a:ext cx="56769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5E2E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5EC2A85-18D7-44A1-8B39-93403A110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4229100"/>
            <a:ext cx="552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38BDF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38BDF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8BDF8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C037E04-E1D7-4938-A056-3B08AFE70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191000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2235"/>
                </a:solidFill>
                <a:latin typeface="Arial"/>
                <a:ea typeface="Arial"/>
                <a:cs typeface="Arial"/>
              </a:rPr>
              <a:t>Destinação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31E6530-0AEA-4166-9B3C-82DB14B22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4972050"/>
            <a:ext cx="56769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E6F8F1"/>
          </a:solidFill>
          <a:ln xmlns:a="http://schemas.openxmlformats.org/drawingml/2006/main" w="19050">
            <a:solidFill>
              <a:srgbClr val="42D39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464C111-88F2-41B0-A4DE-834C53C95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5086350"/>
            <a:ext cx="552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7A5A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BE82E9C-105B-428E-A56D-652AE7C54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5048250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2235"/>
                </a:solidFill>
                <a:latin typeface="Arial"/>
                <a:ea typeface="Arial"/>
                <a:cs typeface="Arial"/>
              </a:rPr>
              <a:t>Alerta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2FEB014-BDEB-4E61-9926-C9E98FE62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0677D"/>
                </a:solidFill>
                <a:latin typeface="Arial"/>
                <a:ea typeface="Arial"/>
                <a:cs typeface="Arial"/>
              </a:rPr>
              <a:t>EcoActions API  |  DevOps aplicado a cidades ESG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C3D9B0E-92E0-479A-A91C-627B2D8B2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77000"/>
            <a:ext cx="685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87A5A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50841047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C5CFE7A-6999-408C-8F16-F947C38AF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53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87A5A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8B1B77-74B9-4A18-9FE1-7DB62A61A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81000"/>
            <a:ext cx="962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2235"/>
                </a:solidFill>
                <a:latin typeface="Arial"/>
                <a:ea typeface="Arial"/>
                <a:cs typeface="Arial"/>
              </a:rPr>
              <a:t>Arquitetura da solução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E69BDE-186F-43E0-B748-DECCBF4AD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866775"/>
            <a:ext cx="962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0677D"/>
                </a:solidFill>
                <a:latin typeface="Arial"/>
                <a:ea typeface="Arial"/>
                <a:cs typeface="Arial"/>
              </a:rPr>
              <a:t>Aplicação e banco orquestrados pelo Docker Compose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117A5B-EE32-4F9B-8AF6-C855E2BE0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10896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D392"/>
          </a:solidFill>
          <a:ln xmlns:a="http://schemas.openxmlformats.org/drawingml/2006/main" w="0">
            <a:solidFill>
              <a:srgbClr val="42D39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A49E64-DA27-48F7-8357-D60164175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33625"/>
            <a:ext cx="20002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12263A"/>
          </a:solidFill>
          <a:ln xmlns:a="http://schemas.openxmlformats.org/drawingml/2006/main" w="0">
            <a:solidFill>
              <a:srgbClr val="12263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686CF0-B9E4-4906-8B94-356AE9EC7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33625"/>
            <a:ext cx="200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76200" rIns="76200" bIns="76200" anchor="ctr">
            <a:normAutofit fontScale="100000"/>
          </a:bodyPr>
          <a:lstStyle xmlns:a="http://schemas.openxmlformats.org/drawingml/2006/main">
            <a:def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Cliente HTTP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48D59C-2B8C-4459-95EC-21248E15E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057400"/>
            <a:ext cx="28575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187A5A"/>
          </a:solidFill>
          <a:ln xmlns:a="http://schemas.openxmlformats.org/drawingml/2006/main" w="0">
            <a:solidFill>
              <a:srgbClr val="187A5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A86A7B-11D4-4D7A-940E-4C0BF2AEA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057400"/>
            <a:ext cx="28575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76200" rIns="76200" bIns="76200" anchor="ctr">
            <a:normAutofit fontScale="100000"/>
          </a:bodyPr>
          <a:lstStyle xmlns:a="http://schemas.openxmlformats.org/drawingml/2006/main">
            <a:def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EcoActions API</a:t>
            </a:r>
          </a:p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Spring Boot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DA415D-BB98-4605-8FB1-7EA0E4EB7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333625"/>
            <a:ext cx="23812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256A86"/>
          </a:solidFill>
          <a:ln xmlns:a="http://schemas.openxmlformats.org/drawingml/2006/main" w="0">
            <a:solidFill>
              <a:srgbClr val="256A8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B24446-891F-4D97-B967-588ECE563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333625"/>
            <a:ext cx="2381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76200" rIns="76200" bIns="76200" anchor="ctr">
            <a:normAutofit fontScale="100000"/>
          </a:bodyPr>
          <a:lstStyle xmlns:a="http://schemas.openxmlformats.org/drawingml/2006/main">
            <a:def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MongoDB 7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5D7D1B-46B6-4C45-93B4-6B9D6D4FC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600325"/>
            <a:ext cx="11811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38BDF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FE06AC-3546-4265-8BF7-5817C87AB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600325"/>
            <a:ext cx="11811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38BDF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FF88E5-B92B-43E4-AB76-B4F5B4533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305050"/>
            <a:ext cx="990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05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0677D"/>
                </a:solidFill>
                <a:latin typeface="Arial"/>
                <a:ea typeface="Arial"/>
                <a:cs typeface="Arial"/>
              </a:rPr>
              <a:t>HTTP Basic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F1FF83-C0DA-4187-B690-E6856D0BB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305050"/>
            <a:ext cx="1028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05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0677D"/>
                </a:solidFill>
                <a:latin typeface="Arial"/>
                <a:ea typeface="Arial"/>
                <a:cs typeface="Arial"/>
              </a:rPr>
              <a:t>Spring Data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C675AD-E6CB-447C-9C20-03EB9FBD3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957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57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57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87A5A"/>
                </a:solidFill>
                <a:latin typeface="Arial"/>
                <a:ea typeface="Arial"/>
                <a:cs typeface="Arial"/>
              </a:rPr>
              <a:t>Variáveis de ambiente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83960A-41B5-4997-BACB-D6D556D52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14850"/>
            <a:ext cx="3143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35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35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0677D"/>
                </a:solidFill>
                <a:latin typeface="Arial"/>
                <a:ea typeface="Arial"/>
                <a:cs typeface="Arial"/>
              </a:rPr>
              <a:t>Credenciais e portas fora do código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2B224D-EBC1-449D-A410-5AB34E9CD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0957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57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57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87A5A"/>
                </a:solidFill>
                <a:latin typeface="Arial"/>
                <a:ea typeface="Arial"/>
                <a:cs typeface="Arial"/>
              </a:rPr>
              <a:t>Rede dedicada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950CBD2-8A0D-491E-8530-C2C3A4825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514850"/>
            <a:ext cx="3143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35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35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0677D"/>
                </a:solidFill>
                <a:latin typeface="Arial"/>
                <a:ea typeface="Arial"/>
                <a:cs typeface="Arial"/>
              </a:rPr>
              <a:t>Comunicação interna entre API e banco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028147-8D27-41DF-A73A-102665F03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0957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57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57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87A5A"/>
                </a:solidFill>
                <a:latin typeface="Arial"/>
                <a:ea typeface="Arial"/>
                <a:cs typeface="Arial"/>
              </a:rPr>
              <a:t>Volume persistente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E08E741-4941-4910-82F6-101397551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514850"/>
            <a:ext cx="3143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35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35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0677D"/>
                </a:solidFill>
                <a:latin typeface="Arial"/>
                <a:ea typeface="Arial"/>
                <a:cs typeface="Arial"/>
              </a:rPr>
              <a:t>Dados preservados entre reinícios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EFADF79-2D57-464B-95DB-ABDA5854B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5657850"/>
            <a:ext cx="8610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725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2235"/>
                </a:solidFill>
                <a:latin typeface="Arial"/>
                <a:ea typeface="Arial"/>
                <a:cs typeface="Arial"/>
              </a:rPr>
              <a:t>Cada ambiente recebe rede, volume, banco e portas próprios.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116C69F-776E-4C02-A942-68A1D65B8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0677D"/>
                </a:solidFill>
                <a:latin typeface="Arial"/>
                <a:ea typeface="Arial"/>
                <a:cs typeface="Arial"/>
              </a:rPr>
              <a:t>EcoActions API  |  DevOps aplicado a cidades ESG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FFE03B9-306E-47FB-BCDB-5DC4325A9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77000"/>
            <a:ext cx="685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87A5A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2716735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6D1AB7F-0C80-44CB-93B5-A3544968B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53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42D39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42D392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42D392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D9B34A-D40B-4EDB-8DD3-F0BAC1760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81000"/>
            <a:ext cx="952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Pipeline CI/CD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ED93B4-DFD2-4BE9-ABE2-FBB0EE171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866775"/>
            <a:ext cx="971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8EA3B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8EA3B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8EA3B7"/>
                </a:solidFill>
                <a:latin typeface="Arial"/>
                <a:ea typeface="Arial"/>
                <a:cs typeface="Arial"/>
              </a:rPr>
              <a:t>GitHub Actions bloqueia a promoção quando build, testes ou health check falham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2BAC26-9F8B-48E5-8883-A9C6006C5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10896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D392"/>
          </a:solidFill>
          <a:ln xmlns:a="http://schemas.openxmlformats.org/drawingml/2006/main" w="0">
            <a:solidFill>
              <a:srgbClr val="42D39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B08FAF-FF4C-450C-AC73-C6545E9F8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38BDF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38BDF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8BDF8"/>
                </a:solidFill>
                <a:latin typeface="Arial"/>
                <a:ea typeface="Arial"/>
                <a:cs typeface="Arial"/>
              </a:rPr>
              <a:t>Pull request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041950-34E7-4DC1-BCC5-35D9EE6E1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859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D8E2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D8E2EE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D8E2EE"/>
                </a:solidFill>
                <a:latin typeface="Arial"/>
                <a:ea typeface="Arial"/>
                <a:cs typeface="Arial"/>
              </a:rPr>
              <a:t>build, testes e imagem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64E89F-CD66-44E9-94E7-7E118AEFA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5811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1350" b="1">
                <a:solidFill>
                  <a:srgbClr val="42D39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350" b="1">
                <a:solidFill>
                  <a:srgbClr val="42D392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42D392"/>
                </a:solidFill>
                <a:latin typeface="Arial"/>
                <a:ea typeface="Arial"/>
                <a:cs typeface="Arial"/>
              </a:rPr>
              <a:t>main ou execução manual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FFF824-8749-48ED-B497-134FA5CFD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885950"/>
            <a:ext cx="3667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1275" b="0">
                <a:solidFill>
                  <a:srgbClr val="D8E2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D8E2EE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D8E2EE"/>
                </a:solidFill>
                <a:latin typeface="Arial"/>
                <a:ea typeface="Arial"/>
                <a:cs typeface="Arial"/>
              </a:rPr>
              <a:t>CI completa e deploy sequencial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9E3C7A-C847-4109-8756-E5590CE3D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28900"/>
            <a:ext cx="2476500" cy="26289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0D1B2A"/>
          </a:solidFill>
          <a:ln xmlns:a="http://schemas.openxmlformats.org/drawingml/2006/main" w="19050">
            <a:solidFill>
              <a:srgbClr val="38BDF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9B97AA-F7F4-4375-8241-E60BE9DE2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19400"/>
            <a:ext cx="457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38BDF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38BDF8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38BDF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56782F-CEF5-419A-95FF-271DCEE4D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71850"/>
            <a:ext cx="2057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Build e testes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38F792-06DF-47EB-9D25-30AD22BA2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57650"/>
            <a:ext cx="2057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D8E2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D8E2E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D8E2EE"/>
                </a:solidFill>
                <a:latin typeface="Arial"/>
                <a:ea typeface="Arial"/>
                <a:cs typeface="Arial"/>
              </a:rPr>
              <a:t>Java 17</a:t>
            </a:r>
          </a:p>
          <a:p xmlns:a="http://schemas.openxmlformats.org/drawingml/2006/main">
            <a:pPr algn="l">
              <a:defRPr sz="1350" b="0">
                <a:solidFill>
                  <a:srgbClr val="D8E2E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D8E2EE"/>
                </a:solidFill>
                <a:latin typeface="Arial"/>
                <a:ea typeface="Arial"/>
                <a:cs typeface="Arial"/>
              </a:rPr>
              <a:t>Maven Verify</a:t>
            </a:r>
          </a:p>
          <a:p xmlns:a="http://schemas.openxmlformats.org/drawingml/2006/main">
            <a:pPr algn="l">
              <a:defRPr sz="1350" b="0">
                <a:solidFill>
                  <a:srgbClr val="D8E2E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D8E2EE"/>
                </a:solidFill>
                <a:latin typeface="Arial"/>
                <a:ea typeface="Arial"/>
                <a:cs typeface="Arial"/>
              </a:rPr>
              <a:t>9 testes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C4D481-1631-4F76-8536-E7A0D1025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628900"/>
            <a:ext cx="2476500" cy="26289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0D1B2A"/>
          </a:solidFill>
          <a:ln xmlns:a="http://schemas.openxmlformats.org/drawingml/2006/main" w="19050">
            <a:solidFill>
              <a:srgbClr val="38BDF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DBBEF9-000D-411F-9B7A-8BCC4E8CF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819400"/>
            <a:ext cx="457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38BDF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38BDF8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38BDF8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532A861-B85A-4E93-A6C0-94AFCA466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371850"/>
            <a:ext cx="2057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Imagem Docker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62E0218-087D-4371-8488-A52B30FC5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057650"/>
            <a:ext cx="2057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D8E2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D8E2E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D8E2EE"/>
                </a:solidFill>
                <a:latin typeface="Arial"/>
                <a:ea typeface="Arial"/>
                <a:cs typeface="Arial"/>
              </a:rPr>
              <a:t>Build multi-stage</a:t>
            </a:r>
          </a:p>
          <a:p xmlns:a="http://schemas.openxmlformats.org/drawingml/2006/main">
            <a:pPr algn="l">
              <a:defRPr sz="1350" b="0">
                <a:solidFill>
                  <a:srgbClr val="D8E2E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D8E2EE"/>
                </a:solidFill>
                <a:latin typeface="Arial"/>
                <a:ea typeface="Arial"/>
                <a:cs typeface="Arial"/>
              </a:rPr>
              <a:t>Artefato imutável</a:t>
            </a:r>
          </a:p>
          <a:p xmlns:a="http://schemas.openxmlformats.org/drawingml/2006/main">
            <a:pPr algn="l">
              <a:defRPr sz="1350" b="0">
                <a:solidFill>
                  <a:srgbClr val="D8E2E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D8E2EE"/>
                </a:solidFill>
                <a:latin typeface="Arial"/>
                <a:ea typeface="Arial"/>
                <a:cs typeface="Arial"/>
              </a:rPr>
              <a:t>Usuário não root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8CA594-1282-4D6C-982C-9F3476FC1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628900"/>
            <a:ext cx="2476500" cy="26289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0D1B2A"/>
          </a:solidFill>
          <a:ln xmlns:a="http://schemas.openxmlformats.org/drawingml/2006/main" w="19050">
            <a:solidFill>
              <a:srgbClr val="42D39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36F94D-4A76-42FA-8189-1B6B40B69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819400"/>
            <a:ext cx="457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42D39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42D392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42D392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4FC073D-3F37-40AD-AF9C-053953521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371850"/>
            <a:ext cx="2057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Staging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96F0D37-BE84-4C69-BD18-16E6216BE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057650"/>
            <a:ext cx="2057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D8E2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D8E2E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D8E2EE"/>
                </a:solidFill>
                <a:latin typeface="Arial"/>
                <a:ea typeface="Arial"/>
                <a:cs typeface="Arial"/>
              </a:rPr>
              <a:t>Docker Compose</a:t>
            </a:r>
          </a:p>
          <a:p xmlns:a="http://schemas.openxmlformats.org/drawingml/2006/main">
            <a:pPr algn="l">
              <a:defRPr sz="1350" b="0">
                <a:solidFill>
                  <a:srgbClr val="D8E2E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D8E2EE"/>
                </a:solidFill>
                <a:latin typeface="Arial"/>
                <a:ea typeface="Arial"/>
                <a:cs typeface="Arial"/>
              </a:rPr>
              <a:t>Health check</a:t>
            </a:r>
          </a:p>
          <a:p xmlns:a="http://schemas.openxmlformats.org/drawingml/2006/main">
            <a:pPr algn="l">
              <a:defRPr sz="1350" b="0">
                <a:solidFill>
                  <a:srgbClr val="D8E2E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D8E2EE"/>
                </a:solidFill>
                <a:latin typeface="Arial"/>
                <a:ea typeface="Arial"/>
                <a:cs typeface="Arial"/>
              </a:rPr>
              <a:t>Porta 8081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4BA35B5-90A9-4908-BC0D-6843DC1C4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628900"/>
            <a:ext cx="2476500" cy="26289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0D1B2A"/>
          </a:solidFill>
          <a:ln xmlns:a="http://schemas.openxmlformats.org/drawingml/2006/main" w="19050">
            <a:solidFill>
              <a:srgbClr val="42D39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4C1B22F-9C29-4993-8CD5-9E2CA6270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819400"/>
            <a:ext cx="457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42D39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42D392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42D392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1C15C4E-FE5B-4F94-A91F-D945BFE69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371850"/>
            <a:ext cx="2057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Produção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B7DF534-8F61-413F-94DB-03075B737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4057650"/>
            <a:ext cx="2057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D8E2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D8E2E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D8E2EE"/>
                </a:solidFill>
                <a:latin typeface="Arial"/>
                <a:ea typeface="Arial"/>
                <a:cs typeface="Arial"/>
              </a:rPr>
              <a:t>Mesma imagem</a:t>
            </a:r>
          </a:p>
          <a:p xmlns:a="http://schemas.openxmlformats.org/drawingml/2006/main">
            <a:pPr algn="l">
              <a:defRPr sz="1350" b="0">
                <a:solidFill>
                  <a:srgbClr val="D8E2E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D8E2EE"/>
                </a:solidFill>
                <a:latin typeface="Arial"/>
                <a:ea typeface="Arial"/>
                <a:cs typeface="Arial"/>
              </a:rPr>
              <a:t>Após staging</a:t>
            </a:r>
          </a:p>
          <a:p xmlns:a="http://schemas.openxmlformats.org/drawingml/2006/main">
            <a:pPr algn="l">
              <a:defRPr sz="1350" b="0">
                <a:solidFill>
                  <a:srgbClr val="D8E2E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D8E2EE"/>
                </a:solidFill>
                <a:latin typeface="Arial"/>
                <a:ea typeface="Arial"/>
                <a:cs typeface="Arial"/>
              </a:rPr>
              <a:t>Porta 8082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B6C61C9-0B6C-4CF8-8712-5536C3B5D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753100"/>
            <a:ext cx="7696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725" b="1">
                <a:solidFill>
                  <a:srgbClr val="F4C95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F4C95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4C95D"/>
                </a:solidFill>
                <a:latin typeface="Arial"/>
                <a:ea typeface="Arial"/>
                <a:cs typeface="Arial"/>
              </a:rPr>
              <a:t>Produção depende do deploy de staging aprovado.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2DBEB00-95B2-4663-A737-1AD35436A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8EA3B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8EA3B7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8EA3B7"/>
                </a:solidFill>
                <a:latin typeface="Arial"/>
                <a:ea typeface="Arial"/>
                <a:cs typeface="Arial"/>
              </a:rPr>
              <a:t>EcoActions API  |  DevOps aplicado a cidades ESG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168D006-7469-4280-B8ED-45B66DC5A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77000"/>
            <a:ext cx="685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42D39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>
                <a:solidFill>
                  <a:srgbClr val="42D39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42D392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4297451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6D3347-5332-4F8B-819C-4458CCAC3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53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87A5A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2D5DCD-23C4-4C6D-95E5-7063CAA74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81000"/>
            <a:ext cx="962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2235"/>
                </a:solidFill>
                <a:latin typeface="Arial"/>
                <a:ea typeface="Arial"/>
                <a:cs typeface="Arial"/>
              </a:rPr>
              <a:t>Containerização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68BFEF-6109-4276-96E0-954E2526F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866775"/>
            <a:ext cx="962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0677D"/>
                </a:solidFill>
                <a:latin typeface="Arial"/>
                <a:ea typeface="Arial"/>
                <a:cs typeface="Arial"/>
              </a:rPr>
              <a:t>A imagem final contém somente o necessário para executar a API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379BE4-B16A-4A64-B3D8-C59A44CE6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10896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D392"/>
          </a:solidFill>
          <a:ln xmlns:a="http://schemas.openxmlformats.org/drawingml/2006/main" w="0">
            <a:solidFill>
              <a:srgbClr val="42D39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CE69F0-780A-4679-BFE5-6C8780643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3714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025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2235"/>
                </a:solidFill>
                <a:latin typeface="Arial"/>
                <a:ea typeface="Arial"/>
                <a:cs typeface="Arial"/>
              </a:rPr>
              <a:t>Dockerfile multi-stage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81023B-476E-4F6E-8740-5C66AA829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3714750" cy="3162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0677D"/>
                </a:solidFill>
                <a:latin typeface="Arial"/>
                <a:ea typeface="Arial"/>
                <a:cs typeface="Arial"/>
              </a:rPr>
              <a:t>Build</a:t>
            </a:r>
          </a:p>
          <a:p xmlns:a="http://schemas.openxmlformats.org/drawingml/2006/main">
            <a:pPr algn="l">
              <a:defRPr sz="1575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0677D"/>
                </a:solidFill>
                <a:latin typeface="Arial"/>
                <a:ea typeface="Arial"/>
                <a:cs typeface="Arial"/>
              </a:rPr>
              <a:t>JDK 17 e Maven Wrapper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0677D"/>
                </a:solidFill>
                <a:latin typeface="Arial"/>
                <a:ea typeface="Arial"/>
                <a:cs typeface="Arial"/>
              </a:rPr>
              <a:t>Runtime</a:t>
            </a:r>
          </a:p>
          <a:p xmlns:a="http://schemas.openxmlformats.org/drawingml/2006/main">
            <a:pPr algn="l">
              <a:defRPr sz="1575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0677D"/>
                </a:solidFill>
                <a:latin typeface="Arial"/>
                <a:ea typeface="Arial"/>
                <a:cs typeface="Arial"/>
              </a:rPr>
              <a:t>JRE 17 e JAR da aplicação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0677D"/>
                </a:solidFill>
                <a:latin typeface="Arial"/>
                <a:ea typeface="Arial"/>
                <a:cs typeface="Arial"/>
              </a:rPr>
              <a:t>Segurança</a:t>
            </a:r>
          </a:p>
          <a:p xmlns:a="http://schemas.openxmlformats.org/drawingml/2006/main">
            <a:pPr algn="l">
              <a:defRPr sz="1575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0677D"/>
                </a:solidFill>
                <a:latin typeface="Arial"/>
                <a:ea typeface="Arial"/>
                <a:cs typeface="Arial"/>
              </a:rPr>
              <a:t>Usuário spring:spring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0677D"/>
                </a:solidFill>
                <a:latin typeface="Arial"/>
                <a:ea typeface="Arial"/>
                <a:cs typeface="Arial"/>
              </a:rPr>
              <a:t>Operação</a:t>
            </a:r>
          </a:p>
          <a:p xmlns:a="http://schemas.openxmlformats.org/drawingml/2006/main">
            <a:pPr algn="l">
              <a:defRPr sz="1575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0677D"/>
                </a:solidFill>
                <a:latin typeface="Arial"/>
                <a:ea typeface="Arial"/>
                <a:cs typeface="Arial"/>
              </a:rPr>
              <a:t>Health check em /api/health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B2DFEF-F6C8-4708-838D-3BCBBC95E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76900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87A5A"/>
                </a:solidFill>
                <a:latin typeface="Arial"/>
                <a:ea typeface="Arial"/>
                <a:cs typeface="Arial"/>
              </a:rPr>
              <a:t>docker build --tag ecoactions-api:local .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415DBE-2D73-4A7B-B3F6-C93FECA6A12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03361aaf244d24"/>
          <a:stretch xmlns:a="http://schemas.openxmlformats.org/drawingml/2006/main"/>
        </p:blipFill>
        <p:spPr>
          <a:xfrm xmlns:a="http://schemas.openxmlformats.org/drawingml/2006/main">
            <a:off x="4810125" y="1721346"/>
            <a:ext cx="6715125" cy="3777258"/>
          </a:xfrm>
          <a:prstGeom xmlns:a="http://schemas.openxmlformats.org/drawingml/2006/main" prst="roundRect">
            <a:avLst>
              <a:gd name="adj" fmla="val 2791"/>
            </a:avLst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00CE74-AFB7-4178-9070-1FD4126DC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5810250"/>
            <a:ext cx="481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105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05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0677D"/>
                </a:solidFill>
                <a:latin typeface="Arial"/>
                <a:ea typeface="Arial"/>
                <a:cs typeface="Arial"/>
              </a:rPr>
              <a:t>Fonte: execução local registrada em docs/evidencias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FF450E-1AD7-4B76-A7D9-6DC635CAD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0677D"/>
                </a:solidFill>
                <a:latin typeface="Arial"/>
                <a:ea typeface="Arial"/>
                <a:cs typeface="Arial"/>
              </a:rPr>
              <a:t>EcoActions API  |  DevOps aplicado a cidades ESG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78DF8D-2970-46AB-A44F-22CFA8549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77000"/>
            <a:ext cx="685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87A5A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34836317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9B81CE-40F1-4AB3-B855-5E5C41339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53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42D39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42D392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42D392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669C56-C0D6-4FBD-9422-DE437DFAB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81000"/>
            <a:ext cx="952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Execução real do pipeline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F90B7F-40CA-4A75-B1DA-E9ABD500F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866775"/>
            <a:ext cx="971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8EA3B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8EA3B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8EA3B7"/>
                </a:solidFill>
                <a:latin typeface="Arial"/>
                <a:ea typeface="Arial"/>
                <a:cs typeface="Arial"/>
              </a:rPr>
              <a:t>GitHub Actions concluiu build, testes, imagem Docker e os dois deploys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6B631A-8F98-4C73-85AE-9AB948F4B05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af4c966cb543ff"/>
          <a:stretch xmlns:a="http://schemas.openxmlformats.org/drawingml/2006/main"/>
        </p:blipFill>
        <p:spPr>
          <a:xfrm xmlns:a="http://schemas.openxmlformats.org/drawingml/2006/main">
            <a:off x="594675" y="1409700"/>
            <a:ext cx="11002651" cy="3286125"/>
          </a:xfrm>
          <a:prstGeom xmlns:a="http://schemas.openxmlformats.org/drawingml/2006/main" prst="roundRect">
            <a:avLst>
              <a:gd name="adj" fmla="val 3478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25B45C-CE56-4C66-9815-AB6890292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953000"/>
            <a:ext cx="1009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575" b="1">
                <a:solidFill>
                  <a:srgbClr val="42D39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575" b="1">
                <a:solidFill>
                  <a:srgbClr val="42D392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42D392"/>
                </a:solidFill>
                <a:latin typeface="Arial"/>
                <a:ea typeface="Arial"/>
                <a:cs typeface="Arial"/>
              </a:rPr>
              <a:t>Build e testes: 34s. Imagem Docker: 50s. Staging: 31s. Produção: 32s.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32CF0B-9808-4F5B-8A42-D6E60CFCE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429250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350" b="0">
                <a:solidFill>
                  <a:srgbClr val="D8E2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350" b="0">
                <a:solidFill>
                  <a:srgbClr val="D8E2E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D8E2EE"/>
                </a:solidFill>
                <a:latin typeface="Arial"/>
                <a:ea typeface="Arial"/>
                <a:cs typeface="Arial"/>
              </a:rPr>
              <a:t>Status final: Success. Duração total: 2m40s. Execução #1 na branch main.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43ABC9-FA6D-41C9-92CC-939012253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153150"/>
            <a:ext cx="914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8EA3B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0">
                <a:solidFill>
                  <a:srgbClr val="8EA3B7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8EA3B7"/>
                </a:solidFill>
                <a:latin typeface="Arial"/>
                <a:ea typeface="Arial"/>
                <a:cs typeface="Arial"/>
              </a:rPr>
              <a:t>Fonte: github.com/Gabriel-Morais102/ecoactions-api/actions/runs/38076926404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1CF7CF-BF34-45F2-8593-576DB8355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77000"/>
            <a:ext cx="685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42D39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>
                <a:solidFill>
                  <a:srgbClr val="42D39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42D392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37931673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45C5A4-ADBE-4F9F-851D-B1D28C300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53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87A5A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3BA5EC-15C7-406C-B1C4-63F1EDE1C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81000"/>
            <a:ext cx="962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2235"/>
                </a:solidFill>
                <a:latin typeface="Arial"/>
                <a:ea typeface="Arial"/>
                <a:cs typeface="Arial"/>
              </a:rPr>
              <a:t>Staging e produção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8D83D7-697F-4E03-A360-B14678598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866775"/>
            <a:ext cx="962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0677D"/>
                </a:solidFill>
                <a:latin typeface="Arial"/>
                <a:ea typeface="Arial"/>
                <a:cs typeface="Arial"/>
              </a:rPr>
              <a:t>Jobs reais executados em sequência pelo GitHub Actions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C3D193-5CD7-4594-B6ED-630BCFFD1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10896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D392"/>
          </a:solidFill>
          <a:ln xmlns:a="http://schemas.openxmlformats.org/drawingml/2006/main" w="0">
            <a:solidFill>
              <a:srgbClr val="42D392"/>
            </a:solidFill>
            <a:prstDash val="solid"/>
          </a:ln>
        </p:spPr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EC84D6-6135-49A6-A277-EADE5904C97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b30ab79eae4f1d"/>
          <a:stretch xmlns:a="http://schemas.openxmlformats.org/drawingml/2006/main"/>
        </p:blipFill>
        <p:spPr>
          <a:xfrm xmlns:a="http://schemas.openxmlformats.org/drawingml/2006/main">
            <a:off x="495300" y="1478836"/>
            <a:ext cx="5476875" cy="3881279"/>
          </a:xfrm>
          <a:prstGeom xmlns:a="http://schemas.openxmlformats.org/drawingml/2006/main" prst="roundRect">
            <a:avLst>
              <a:gd name="adj" fmla="val 2927"/>
            </a:avLst>
          </a:prstGeom>
        </p:spPr>
      </p:pic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F7A92C-316D-4B9D-BE5C-2155726B66A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34a16f7d0f4384"/>
          <a:stretch xmlns:a="http://schemas.openxmlformats.org/drawingml/2006/main"/>
        </p:blipFill>
        <p:spPr>
          <a:xfrm xmlns:a="http://schemas.openxmlformats.org/drawingml/2006/main">
            <a:off x="6219825" y="1478836"/>
            <a:ext cx="5476875" cy="3881279"/>
          </a:xfrm>
          <a:prstGeom xmlns:a="http://schemas.openxmlformats.org/drawingml/2006/main" prst="roundRect">
            <a:avLst>
              <a:gd name="adj" fmla="val 2927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852BA5-FBC5-44C3-AB64-0A1E7E4DE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67350"/>
            <a:ext cx="504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42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42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7A5A"/>
                </a:solidFill>
                <a:latin typeface="Arial"/>
                <a:ea typeface="Arial"/>
                <a:cs typeface="Arial"/>
              </a:rPr>
              <a:t>STAGING · 31s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35FAD5-BE2A-4251-AE29-0961C8CF4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1200"/>
            <a:ext cx="504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275" b="0">
                <a:solidFill>
                  <a:srgbClr val="1022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75" b="0">
                <a:solidFill>
                  <a:srgbClr val="10223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02235"/>
                </a:solidFill>
                <a:latin typeface="Arial"/>
                <a:ea typeface="Arial"/>
                <a:cs typeface="Arial"/>
              </a:rPr>
              <a:t>Health check aprovado antes da promoção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B77FBD-ED0A-4D98-9BB6-7050C251A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5467350"/>
            <a:ext cx="504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42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42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7A5A"/>
                </a:solidFill>
                <a:latin typeface="Arial"/>
                <a:ea typeface="Arial"/>
                <a:cs typeface="Arial"/>
              </a:rPr>
              <a:t>PRODUÇÃO · 32s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ABC60D-2220-41F7-ABA7-2FF507F32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5791200"/>
            <a:ext cx="504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275" b="0">
                <a:solidFill>
                  <a:srgbClr val="1022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75" b="0">
                <a:solidFill>
                  <a:srgbClr val="10223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02235"/>
                </a:solidFill>
                <a:latin typeface="Arial"/>
                <a:ea typeface="Arial"/>
                <a:cs typeface="Arial"/>
              </a:rPr>
              <a:t>Executado somente após staging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335858-42C8-4E7C-92AC-FC6C95287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0677D"/>
                </a:solidFill>
                <a:latin typeface="Arial"/>
                <a:ea typeface="Arial"/>
                <a:cs typeface="Arial"/>
              </a:rPr>
              <a:t>EcoActions API  |  DevOps aplicado a cidades ESG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7508B3-8D7D-420E-9ABE-C785603DC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77000"/>
            <a:ext cx="685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87A5A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92883927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009943C-E231-4B80-A3AB-DB4697A77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53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87A5A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E209E3-F63D-4BD8-A525-B9976F208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81000"/>
            <a:ext cx="962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2235"/>
                </a:solidFill>
                <a:latin typeface="Arial"/>
                <a:ea typeface="Arial"/>
                <a:cs typeface="Arial"/>
              </a:rPr>
              <a:t>Desafios encontrados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C01FA1-A0A3-49BF-AD29-4DA026003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866775"/>
            <a:ext cx="962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0677D"/>
                </a:solidFill>
                <a:latin typeface="Arial"/>
                <a:ea typeface="Arial"/>
                <a:cs typeface="Arial"/>
              </a:rPr>
              <a:t>Ajustes simples tornaram o ambiente previsível e demonstrável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7E5696-70D6-48F7-ACCA-5AD376AC8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10896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D392"/>
          </a:solidFill>
          <a:ln xmlns:a="http://schemas.openxmlformats.org/drawingml/2006/main" w="0">
            <a:solidFill>
              <a:srgbClr val="42D39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3574BA-E065-4394-B1E6-8C8D1E28E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8115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EF6A6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EF6A6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EF6A6A"/>
                </a:solidFill>
                <a:latin typeface="Arial"/>
                <a:ea typeface="Arial"/>
                <a:cs typeface="Arial"/>
              </a:rPr>
              <a:t>Desafio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C8CA6E-6FA0-4878-8149-E28E6D5A7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581150"/>
            <a:ext cx="619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7A5A"/>
                </a:solidFill>
                <a:latin typeface="Arial"/>
                <a:ea typeface="Arial"/>
                <a:cs typeface="Arial"/>
              </a:rPr>
              <a:t>Solução adotada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CFF305-4AFB-4310-A74C-9384B9525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14550"/>
            <a:ext cx="3524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2235"/>
                </a:solidFill>
                <a:latin typeface="Arial"/>
                <a:ea typeface="Arial"/>
                <a:cs typeface="Arial"/>
              </a:rPr>
              <a:t>API podia iniciar antes do MongoDB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86561B-0981-45C7-864D-323A12CD0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114550"/>
            <a:ext cx="619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0677D"/>
                </a:solidFill>
                <a:latin typeface="Arial"/>
                <a:ea typeface="Arial"/>
                <a:cs typeface="Arial"/>
              </a:rPr>
              <a:t>Health check do banco e depends_on com condição saudável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1D858A-5ABB-4110-A05F-CA2DB391E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76550"/>
            <a:ext cx="10420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2EC"/>
          </a:solidFill>
          <a:ln xmlns:a="http://schemas.openxmlformats.org/drawingml/2006/main" w="0">
            <a:solidFill>
              <a:srgbClr val="D5E2E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CFFB5B-29C9-49FB-9E0B-23DCAB40F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67050"/>
            <a:ext cx="3524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2235"/>
                </a:solidFill>
                <a:latin typeface="Arial"/>
                <a:ea typeface="Arial"/>
                <a:cs typeface="Arial"/>
              </a:rPr>
              <a:t>Credenciais estavam acopladas à configuração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97CC80-F90B-4E6A-A958-FF411979C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067050"/>
            <a:ext cx="619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0677D"/>
                </a:solidFill>
                <a:latin typeface="Arial"/>
                <a:ea typeface="Arial"/>
                <a:cs typeface="Arial"/>
              </a:rPr>
              <a:t>Variáveis de ambiente, arquivos .example e proteção no .gitignore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ED1302-92C1-42AE-A77A-D36F74D11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29050"/>
            <a:ext cx="10420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2EC"/>
          </a:solidFill>
          <a:ln xmlns:a="http://schemas.openxmlformats.org/drawingml/2006/main" w="0">
            <a:solidFill>
              <a:srgbClr val="D5E2E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FC7740A-706E-4F0D-9D64-028C93C21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19550"/>
            <a:ext cx="3524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2235"/>
                </a:solidFill>
                <a:latin typeface="Arial"/>
                <a:ea typeface="Arial"/>
                <a:cs typeface="Arial"/>
              </a:rPr>
              <a:t>Staging e produção compartilhariam recursos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68D04F-8A65-4307-8D3C-E2C7348A4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019550"/>
            <a:ext cx="619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0677D"/>
                </a:solidFill>
                <a:latin typeface="Arial"/>
                <a:ea typeface="Arial"/>
                <a:cs typeface="Arial"/>
              </a:rPr>
              <a:t>Projetos Compose distintos com redes, volumes, bancos e portas separados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130E046-8F0C-4B0A-849A-E12326497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81550"/>
            <a:ext cx="10420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2EC"/>
          </a:solidFill>
          <a:ln xmlns:a="http://schemas.openxmlformats.org/drawingml/2006/main" w="0">
            <a:solidFill>
              <a:srgbClr val="D5E2E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6B03663-36C8-43AA-9885-8379EA4AB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72050"/>
            <a:ext cx="3524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2235"/>
                </a:solidFill>
                <a:latin typeface="Arial"/>
                <a:ea typeface="Arial"/>
                <a:cs typeface="Arial"/>
              </a:rPr>
              <a:t>Carga inicial usava um banco fixo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74CFAA0-6E38-4B7C-985F-04924197C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972050"/>
            <a:ext cx="619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0677D"/>
                </a:solidFill>
                <a:latin typeface="Arial"/>
                <a:ea typeface="Arial"/>
                <a:cs typeface="Arial"/>
              </a:rPr>
              <a:t>Script passou a respeitar MONGO_INITDB_DATABASE em todos os ambientes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055EA3E-B3E4-42E0-8786-A667A7572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0677D"/>
                </a:solidFill>
                <a:latin typeface="Arial"/>
                <a:ea typeface="Arial"/>
                <a:cs typeface="Arial"/>
              </a:rPr>
              <a:t>EcoActions API  |  DevOps aplicado a cidades ESG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A78E7A5-3404-4797-9CA4-0C29C385E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77000"/>
            <a:ext cx="685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87A5A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5436052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4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B4D4D5-B257-441E-A01F-9ED5B9CBE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53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87A5A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0A8A42-34F5-4D50-AC85-EA544AABE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81000"/>
            <a:ext cx="962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2235"/>
                </a:solidFill>
                <a:latin typeface="Arial"/>
                <a:ea typeface="Arial"/>
                <a:cs typeface="Arial"/>
              </a:rPr>
              <a:t>Checklist da entrega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691A23-8087-49D3-9094-50B114BD2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866775"/>
            <a:ext cx="962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0677D"/>
                </a:solidFill>
                <a:latin typeface="Arial"/>
                <a:ea typeface="Arial"/>
                <a:cs typeface="Arial"/>
              </a:rPr>
              <a:t>Situação após publicação, execução do pipeline e atualização das evidências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CA1227-173E-45F5-BBD2-D8F74C11C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10896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D392"/>
          </a:solidFill>
          <a:ln xmlns:a="http://schemas.openxmlformats.org/drawingml/2006/main" w="0">
            <a:solidFill>
              <a:srgbClr val="42D392"/>
            </a:solidFill>
            <a:prstDash val="solid"/>
          </a:ln>
        </p:spPr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26B6F5-97AB-4574-B266-EE8133B72AF5}"/>
              </a:ext>
            </a:extLst>
          </p:cNvPr>
          <p:cNvGraphicFramePr/>
          <p:nvPr/>
        </p:nvGraphicFramePr>
        <p:xfrm>
          <a:off xmlns:a="http://schemas.openxmlformats.org/drawingml/2006/main" x="857250" y="1562100"/>
          <a:ext xmlns:a="http://schemas.openxmlformats.org/drawingml/2006/main" cx="10477500" cy="4000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9239250"/>
                <a:gridCol w="1238250"/>
              </a:tblGrid>
              <a:tr h="495300">
                <a:tc>
                  <a:txBody>
                    <a:bodyPr lIns="95250" tIns="95250" rIns="95250" bIns="95250">
                      <a:normAutofit/>
                    </a:bodyPr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Item</a:t>
                      </a:r>
                    </a:p>
                  </a:txBody>
                  <a:tcPr marL="91440" marR="91440" marT="45720" marB="45720" anchor="ctr">
                    <a:solidFill>
                      <a:srgbClr val="12263A"/>
                    </a:solidFill>
                  </a:tcPr>
                </a:tc>
                <a:tc>
                  <a:txBody>
                    <a:bodyPr lIns="95250" tIns="95250" rIns="95250" bIns="95250">
                      <a:normAutofit/>
                    </a:bodyPr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OK</a:t>
                      </a:r>
                    </a:p>
                  </a:txBody>
                  <a:tcPr marL="91440" marR="91440" marT="45720" marB="45720" anchor="ctr">
                    <a:solidFill>
                      <a:srgbClr val="12263A"/>
                    </a:solidFill>
                  </a:tcPr>
                </a:tc>
              </a:tr>
              <a:tr h="495300">
                <a:tc>
                  <a:txBody>
                    <a:bodyPr lIns="95250" tIns="95250" rIns="95250" bIns="95250">
                      <a:normAutofit/>
                    </a:bodyPr>
                    <a:lstStyle/>
                    <a:p>
                      <a:pPr algn="l"/>
                      <a:r>
                        <a:rPr sz="1350" b="0">
                          <a:solidFill>
                            <a:srgbClr val="102235"/>
                          </a:solidFill>
                          <a:latin typeface="Arial"/>
                          <a:ea typeface="Arial"/>
                          <a:cs typeface="Arial"/>
                        </a:rPr>
                        <a:t>Projeto compactado em ZIP com estrutura organizada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>
                      <a:normAutofit/>
                    </a:bodyPr>
                    <a:lstStyle/>
                    <a:p>
                      <a:pPr algn="ctr"/>
                      <a:r>
                        <a:rPr sz="1350" b="1">
                          <a:solidFill>
                            <a:srgbClr val="187A5A"/>
                          </a:solidFill>
                          <a:latin typeface="Arial"/>
                          <a:ea typeface="Arial"/>
                          <a:cs typeface="Arial"/>
                        </a:rPr>
                        <a:t>☑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 lIns="95250" tIns="95250" rIns="95250" bIns="95250">
                      <a:normAutofit/>
                    </a:bodyPr>
                    <a:lstStyle/>
                    <a:p>
                      <a:pPr algn="l"/>
                      <a:r>
                        <a:rPr sz="1350" b="0">
                          <a:solidFill>
                            <a:srgbClr val="102235"/>
                          </a:solidFill>
                          <a:latin typeface="Arial"/>
                          <a:ea typeface="Arial"/>
                          <a:cs typeface="Arial"/>
                        </a:rPr>
                        <a:t>Dockerfile funcional</a:t>
                      </a:r>
                    </a:p>
                  </a:txBody>
                  <a:tcPr marL="91440" marR="91440" marT="45720" marB="45720" anchor="ctr">
                    <a:solidFill>
                      <a:srgbClr val="F7FAFC"/>
                    </a:solidFill>
                  </a:tcPr>
                </a:tc>
                <a:tc>
                  <a:txBody>
                    <a:bodyPr lIns="95250" tIns="95250" rIns="95250" bIns="95250">
                      <a:normAutofit/>
                    </a:bodyPr>
                    <a:lstStyle/>
                    <a:p>
                      <a:pPr algn="ctr"/>
                      <a:r>
                        <a:rPr sz="1350" b="1">
                          <a:solidFill>
                            <a:srgbClr val="187A5A"/>
                          </a:solidFill>
                          <a:latin typeface="Arial"/>
                          <a:ea typeface="Arial"/>
                          <a:cs typeface="Arial"/>
                        </a:rPr>
                        <a:t>☑</a:t>
                      </a:r>
                    </a:p>
                  </a:txBody>
                  <a:tcPr marL="91440" marR="91440" marT="45720" marB="45720" anchor="ctr">
                    <a:solidFill>
                      <a:srgbClr val="F7FAFC"/>
                    </a:solidFill>
                  </a:tcPr>
                </a:tc>
              </a:tr>
              <a:tr h="495300">
                <a:tc>
                  <a:txBody>
                    <a:bodyPr lIns="95250" tIns="95250" rIns="95250" bIns="95250">
                      <a:normAutofit/>
                    </a:bodyPr>
                    <a:lstStyle/>
                    <a:p>
                      <a:pPr algn="l"/>
                      <a:r>
                        <a:rPr sz="1350" b="0">
                          <a:solidFill>
                            <a:srgbClr val="102235"/>
                          </a:solidFill>
                          <a:latin typeface="Arial"/>
                          <a:ea typeface="Arial"/>
                          <a:cs typeface="Arial"/>
                        </a:rPr>
                        <a:t>docker-compose.yml com volume, rede e variáveis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>
                      <a:normAutofit/>
                    </a:bodyPr>
                    <a:lstStyle/>
                    <a:p>
                      <a:pPr algn="ctr"/>
                      <a:r>
                        <a:rPr sz="1350" b="1">
                          <a:solidFill>
                            <a:srgbClr val="187A5A"/>
                          </a:solidFill>
                          <a:latin typeface="Arial"/>
                          <a:ea typeface="Arial"/>
                          <a:cs typeface="Arial"/>
                        </a:rPr>
                        <a:t>☑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 lIns="95250" tIns="95250" rIns="95250" bIns="95250">
                      <a:normAutofit/>
                    </a:bodyPr>
                    <a:lstStyle/>
                    <a:p>
                      <a:pPr algn="l"/>
                      <a:r>
                        <a:rPr sz="1350" b="0">
                          <a:solidFill>
                            <a:srgbClr val="102235"/>
                          </a:solidFill>
                          <a:latin typeface="Arial"/>
                          <a:ea typeface="Arial"/>
                          <a:cs typeface="Arial"/>
                        </a:rPr>
                        <a:t>Pipeline com build, testes e deploy</a:t>
                      </a:r>
                    </a:p>
                  </a:txBody>
                  <a:tcPr marL="91440" marR="91440" marT="45720" marB="45720" anchor="ctr">
                    <a:solidFill>
                      <a:srgbClr val="F7FAFC"/>
                    </a:solidFill>
                  </a:tcPr>
                </a:tc>
                <a:tc>
                  <a:txBody>
                    <a:bodyPr lIns="95250" tIns="95250" rIns="95250" bIns="95250">
                      <a:normAutofit/>
                    </a:bodyPr>
                    <a:lstStyle/>
                    <a:p>
                      <a:pPr algn="ctr"/>
                      <a:r>
                        <a:rPr sz="1350" b="1">
                          <a:solidFill>
                            <a:srgbClr val="187A5A"/>
                          </a:solidFill>
                          <a:latin typeface="Arial"/>
                          <a:ea typeface="Arial"/>
                          <a:cs typeface="Arial"/>
                        </a:rPr>
                        <a:t>☑</a:t>
                      </a:r>
                    </a:p>
                  </a:txBody>
                  <a:tcPr marL="91440" marR="91440" marT="45720" marB="45720" anchor="ctr">
                    <a:solidFill>
                      <a:srgbClr val="F7FAFC"/>
                    </a:solidFill>
                  </a:tcPr>
                </a:tc>
              </a:tr>
              <a:tr h="495300">
                <a:tc>
                  <a:txBody>
                    <a:bodyPr lIns="95250" tIns="95250" rIns="95250" bIns="95250">
                      <a:normAutofit/>
                    </a:bodyPr>
                    <a:lstStyle/>
                    <a:p>
                      <a:pPr algn="l"/>
                      <a:r>
                        <a:rPr sz="1350" b="0">
                          <a:solidFill>
                            <a:srgbClr val="102235"/>
                          </a:solidFill>
                          <a:latin typeface="Arial"/>
                          <a:ea typeface="Arial"/>
                          <a:cs typeface="Arial"/>
                        </a:rPr>
                        <a:t>README com instruções e prints do GitHub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>
                      <a:normAutofit/>
                    </a:bodyPr>
                    <a:lstStyle/>
                    <a:p>
                      <a:pPr algn="ctr"/>
                      <a:r>
                        <a:rPr sz="1350" b="1">
                          <a:solidFill>
                            <a:srgbClr val="187A5A"/>
                          </a:solidFill>
                          <a:latin typeface="Arial"/>
                          <a:ea typeface="Arial"/>
                          <a:cs typeface="Arial"/>
                        </a:rPr>
                        <a:t>☑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 lIns="95250" tIns="95250" rIns="95250" bIns="95250">
                      <a:normAutofit/>
                    </a:bodyPr>
                    <a:lstStyle/>
                    <a:p>
                      <a:pPr algn="l"/>
                      <a:r>
                        <a:rPr sz="1350" b="0">
                          <a:solidFill>
                            <a:srgbClr val="102235"/>
                          </a:solidFill>
                          <a:latin typeface="Arial"/>
                          <a:ea typeface="Arial"/>
                          <a:cs typeface="Arial"/>
                        </a:rPr>
                        <a:t>Documentação técnica com evidências</a:t>
                      </a:r>
                    </a:p>
                  </a:txBody>
                  <a:tcPr marL="91440" marR="91440" marT="45720" marB="45720" anchor="ctr">
                    <a:solidFill>
                      <a:srgbClr val="F7FAFC"/>
                    </a:solidFill>
                  </a:tcPr>
                </a:tc>
                <a:tc>
                  <a:txBody>
                    <a:bodyPr lIns="95250" tIns="95250" rIns="95250" bIns="95250">
                      <a:normAutofit/>
                    </a:bodyPr>
                    <a:lstStyle/>
                    <a:p>
                      <a:pPr algn="ctr"/>
                      <a:r>
                        <a:rPr sz="1350" b="1">
                          <a:solidFill>
                            <a:srgbClr val="187A5A"/>
                          </a:solidFill>
                          <a:latin typeface="Arial"/>
                          <a:ea typeface="Arial"/>
                          <a:cs typeface="Arial"/>
                        </a:rPr>
                        <a:t>☑</a:t>
                      </a:r>
                    </a:p>
                  </a:txBody>
                  <a:tcPr marL="91440" marR="91440" marT="45720" marB="45720" anchor="ctr">
                    <a:solidFill>
                      <a:srgbClr val="F7FAFC"/>
                    </a:solidFill>
                  </a:tcPr>
                </a:tc>
              </a:tr>
              <a:tr h="495300">
                <a:tc>
                  <a:txBody>
                    <a:bodyPr lIns="95250" tIns="95250" rIns="95250" bIns="95250">
                      <a:normAutofit/>
                    </a:bodyPr>
                    <a:lstStyle/>
                    <a:p>
                      <a:pPr algn="l"/>
                      <a:r>
                        <a:rPr sz="1350" b="0">
                          <a:solidFill>
                            <a:srgbClr val="102235"/>
                          </a:solidFill>
                          <a:latin typeface="Arial"/>
                          <a:ea typeface="Arial"/>
                          <a:cs typeface="Arial"/>
                        </a:rPr>
                        <a:t>Deploy realizado em staging e produção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>
                      <a:normAutofit/>
                    </a:bodyPr>
                    <a:lstStyle/>
                    <a:p>
                      <a:pPr algn="ctr"/>
                      <a:r>
                        <a:rPr sz="1350" b="1">
                          <a:solidFill>
                            <a:srgbClr val="187A5A"/>
                          </a:solidFill>
                          <a:latin typeface="Arial"/>
                          <a:ea typeface="Arial"/>
                          <a:cs typeface="Arial"/>
                        </a:rPr>
                        <a:t>☑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C0FFED-5B59-4A2C-8260-F70627B6C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810250"/>
            <a:ext cx="1009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425" b="1">
                <a:solidFill>
                  <a:srgbClr val="42D39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425" b="1">
                <a:solidFill>
                  <a:srgbClr val="42D392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42D392"/>
                </a:solidFill>
                <a:latin typeface="Arial"/>
                <a:ea typeface="Arial"/>
                <a:cs typeface="Arial"/>
              </a:rPr>
              <a:t>Entrega final: integrante, turma, documentação e evidências conferidos.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D15550-950D-4904-8AFD-BBB4C209D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0677D"/>
                </a:solidFill>
                <a:latin typeface="Arial"/>
                <a:ea typeface="Arial"/>
                <a:cs typeface="Arial"/>
              </a:rPr>
              <a:t>EcoActions API  |  DevOps aplicado a cidades ESG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B9C43E-7310-4DAF-8212-60179B701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77000"/>
            <a:ext cx="685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87A5A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15161264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2026-10-10T19:02:19.0180000Z</dcterms:created>
  <dcterms:modified xsi:type="dcterms:W3CDTF">2026-10-10T19:02:19.0180000Z</dcterms:modified>
</coreProperties>
</file>