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5680b9b19046f2" /><Relationship Type="http://schemas.openxmlformats.org/officeDocument/2006/relationships/extended-properties" Target="/docProps/app.xml" Id="R34f558d6e5e447b2" /><Relationship Type="http://schemas.openxmlformats.org/officeDocument/2006/relationships/officeDocument" Target="/ppt/presentation.xml" Id="R02c86f3cf39143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f2ceb4fba9437d"/>
  </p:sldMasterIdLst>
  <p:notesMasterIdLst>
    <p:notesMasterId xmlns:r="http://schemas.openxmlformats.org/officeDocument/2006/relationships" r:id="R0916ffa5b3cc48b7"/>
  </p:notesMasterIdLst>
  <p:sldIdLst>
    <p:sldId xmlns:r="http://schemas.openxmlformats.org/officeDocument/2006/relationships" id="256" r:id="R68d4d6813a134145"/>
    <p:sldId xmlns:r="http://schemas.openxmlformats.org/officeDocument/2006/relationships" id="257" r:id="R62e64b542cf949ed"/>
    <p:sldId xmlns:r="http://schemas.openxmlformats.org/officeDocument/2006/relationships" id="258" r:id="Ree87451b27d841d4"/>
    <p:sldId xmlns:r="http://schemas.openxmlformats.org/officeDocument/2006/relationships" id="259" r:id="R7948cb8ccb844723"/>
    <p:sldId xmlns:r="http://schemas.openxmlformats.org/officeDocument/2006/relationships" id="260" r:id="Rfc5f04e6ca2f4be0"/>
    <p:sldId xmlns:r="http://schemas.openxmlformats.org/officeDocument/2006/relationships" id="261" r:id="Rd4a8dcda44e24e89"/>
    <p:sldId xmlns:r="http://schemas.openxmlformats.org/officeDocument/2006/relationships" id="262" r:id="Rbd006a3c7dfa40e4"/>
    <p:sldId xmlns:r="http://schemas.openxmlformats.org/officeDocument/2006/relationships" id="263" r:id="Ref04adb46c0f4b2a"/>
    <p:sldId xmlns:r="http://schemas.openxmlformats.org/officeDocument/2006/relationships" id="264" r:id="Rff2aed894220437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c36378067a4de3" /><Relationship Type="http://schemas.openxmlformats.org/officeDocument/2006/relationships/slideMaster" Target="/ppt/slideMasters/slideMaster1.xml" Id="R66f2ceb4fba9437d" /><Relationship Type="http://schemas.openxmlformats.org/officeDocument/2006/relationships/notesMaster" Target="/ppt/notesMasters/notesMaster1.xml" Id="R0916ffa5b3cc48b7" /><Relationship Type="http://schemas.openxmlformats.org/officeDocument/2006/relationships/presProps" Target="/ppt/presProps.xml" Id="Rdc9e3abe2df14e80" /><Relationship Type="http://schemas.openxmlformats.org/officeDocument/2006/relationships/tableStyles" Target="/ppt/tableStyles.xml" Id="R281ec095131e4c3f" /><Relationship Type="http://schemas.openxmlformats.org/officeDocument/2006/relationships/slide" Target="/ppt/slides/slide1.xml" Id="R68d4d6813a134145" /><Relationship Type="http://schemas.openxmlformats.org/officeDocument/2006/relationships/slide" Target="/ppt/slides/slide2.xml" Id="R62e64b542cf949ed" /><Relationship Type="http://schemas.openxmlformats.org/officeDocument/2006/relationships/slide" Target="/ppt/slides/slide3.xml" Id="Ree87451b27d841d4" /><Relationship Type="http://schemas.openxmlformats.org/officeDocument/2006/relationships/slide" Target="/ppt/slides/slide4.xml" Id="R7948cb8ccb844723" /><Relationship Type="http://schemas.openxmlformats.org/officeDocument/2006/relationships/slide" Target="/ppt/slides/slide5.xml" Id="Rfc5f04e6ca2f4be0" /><Relationship Type="http://schemas.openxmlformats.org/officeDocument/2006/relationships/slide" Target="/ppt/slides/slide6.xml" Id="Rd4a8dcda44e24e89" /><Relationship Type="http://schemas.openxmlformats.org/officeDocument/2006/relationships/slide" Target="/ppt/slides/slide7.xml" Id="Rbd006a3c7dfa40e4" /><Relationship Type="http://schemas.openxmlformats.org/officeDocument/2006/relationships/slide" Target="/ppt/slides/slide8.xml" Id="Ref04adb46c0f4b2a" /><Relationship Type="http://schemas.openxmlformats.org/officeDocument/2006/relationships/slide" Target="/ppt/slides/slide9.xml" Id="Rff2aed89422043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310164b69649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c7b85d195e6445b" /><Relationship Type="http://schemas.openxmlformats.org/officeDocument/2006/relationships/notesMaster" Target="/ppt/notesMasters/notesMaster1.xml" Id="R587f2dffa4e141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074207f7604ce8" /><Relationship Type="http://schemas.openxmlformats.org/officeDocument/2006/relationships/notesMaster" Target="/ppt/notesMasters/notesMaster1.xml" Id="Rd3cbd3f0e35749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8eae5ccebf4f75" /><Relationship Type="http://schemas.openxmlformats.org/officeDocument/2006/relationships/notesMaster" Target="/ppt/notesMasters/notesMaster1.xml" Id="R828890aa340c45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14971a5f5dd4e40" /><Relationship Type="http://schemas.openxmlformats.org/officeDocument/2006/relationships/notesMaster" Target="/ppt/notesMasters/notesMaster1.xml" Id="R4a8da0b4f50242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f258407dae44a4" /><Relationship Type="http://schemas.openxmlformats.org/officeDocument/2006/relationships/notesMaster" Target="/ppt/notesMasters/notesMaster1.xml" Id="Rf9c100fa9c40413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5d56e638784016" /><Relationship Type="http://schemas.openxmlformats.org/officeDocument/2006/relationships/notesMaster" Target="/ppt/notesMasters/notesMaster1.xml" Id="R436bc8b1fa174c1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e887314365465f" /><Relationship Type="http://schemas.openxmlformats.org/officeDocument/2006/relationships/notesMaster" Target="/ppt/notesMasters/notesMaster1.xml" Id="Rbd3a745d6aa3453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6d74cc7a0d4775" /><Relationship Type="http://schemas.openxmlformats.org/officeDocument/2006/relationships/notesMaster" Target="/ppt/notesMasters/notesMaster1.xml" Id="R8dcb97ce2e66421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42f617ac244fd3" /><Relationship Type="http://schemas.openxmlformats.org/officeDocument/2006/relationships/notesMaster" Target="/ppt/notesMasters/notesMaster1.xml" Id="R5a3c11fcd06b43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069e55a84d48d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e31078cf05461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6f4a9f9ad7497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75583977c640a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330c6da077446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0fc71632eb49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3C62055-0114-4E63-A698-0A20BB1663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3B23E61-B672-4FBE-B90A-A7A0BFC080A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4531D24-DA29-44A3-B5E8-67874755B8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E3ACBC-B2F8-4BA8-87F1-514C88B395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91D9D06-D4B8-4F7F-ACA6-F18D76658A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0BAF612-8163-4D12-9B4B-3A460A9B06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245B38E-74B3-4175-8A81-F9971F5002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FB6ECBA-624A-49B7-8457-E43EEBB488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FF57BE7-92E2-46F4-9676-793C36A2FB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B8042FF-ABD7-4B15-8F52-6A1C8E7C77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97d145f8284b53" /><Relationship Type="http://schemas.openxmlformats.org/officeDocument/2006/relationships/slideLayout" Target="/ppt/slideLayouts/slideLayout1.xml" Id="Rab7196e254404550" /><Relationship Type="http://schemas.openxmlformats.org/officeDocument/2006/relationships/slideLayout" Target="/ppt/slideLayouts/slideLayout2.xml" Id="Rfac16ee7d6814a43" /><Relationship Type="http://schemas.openxmlformats.org/officeDocument/2006/relationships/slideLayout" Target="/ppt/slideLayouts/slideLayout3.xml" Id="Rd3cc563ee5db4da0" /><Relationship Type="http://schemas.openxmlformats.org/officeDocument/2006/relationships/slideLayout" Target="/ppt/slideLayouts/slideLayout4.xml" Id="R22c562db4b5548b3" /><Relationship Type="http://schemas.openxmlformats.org/officeDocument/2006/relationships/slideLayout" Target="/ppt/slideLayouts/slideLayout5.xml" Id="R5f4681634dda4c7a" /><Relationship Type="http://schemas.openxmlformats.org/officeDocument/2006/relationships/slideLayout" Target="/ppt/slideLayouts/slideLayout6.xml" Id="Rd02a164f2845467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b7196e254404550"/>
    <p:sldLayoutId xmlns:r="http://schemas.openxmlformats.org/officeDocument/2006/relationships" id="2147483650" r:id="Rfac16ee7d6814a43"/>
    <p:sldLayoutId xmlns:r="http://schemas.openxmlformats.org/officeDocument/2006/relationships" id="2147483651" r:id="Rd3cc563ee5db4da0"/>
    <p:sldLayoutId xmlns:r="http://schemas.openxmlformats.org/officeDocument/2006/relationships" id="2147483652" r:id="R22c562db4b5548b3"/>
    <p:sldLayoutId xmlns:r="http://schemas.openxmlformats.org/officeDocument/2006/relationships" id="2147483653" r:id="R5f4681634dda4c7a"/>
    <p:sldLayoutId xmlns:r="http://schemas.openxmlformats.org/officeDocument/2006/relationships" id="2147483654" r:id="Rd02a164f2845467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305d7cb2294f80" /><Relationship Type="http://schemas.openxmlformats.org/officeDocument/2006/relationships/image" Target="/ppt/media/image.png" Id="Rad7bcaf693c34a62" /><Relationship Type="http://schemas.openxmlformats.org/officeDocument/2006/relationships/notesSlide" Target="/ppt/notesSlides/notesSlide1.xml" Id="R35d9c73a16ab45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606eea721b4f1b" /><Relationship Type="http://schemas.openxmlformats.org/officeDocument/2006/relationships/notesSlide" Target="/ppt/notesSlides/notesSlide2.xml" Id="Re637c285091745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61881620cd46c2" /><Relationship Type="http://schemas.openxmlformats.org/officeDocument/2006/relationships/notesSlide" Target="/ppt/notesSlides/notesSlide3.xml" Id="R4ad5aae43f1243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3305f2711e4a93" /><Relationship Type="http://schemas.openxmlformats.org/officeDocument/2006/relationships/notesSlide" Target="/ppt/notesSlides/notesSlide4.xml" Id="Rfadfa6f0187249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a46d89eef14eb6" /><Relationship Type="http://schemas.openxmlformats.org/officeDocument/2006/relationships/image" Target="/ppt/media/image2.png" Id="Rbccd1841250844dc" /><Relationship Type="http://schemas.openxmlformats.org/officeDocument/2006/relationships/notesSlide" Target="/ppt/notesSlides/notesSlide5.xml" Id="Rf5730ad71b714d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98b668170e4895" /><Relationship Type="http://schemas.openxmlformats.org/officeDocument/2006/relationships/image" Target="/ppt/media/image3.png" Id="R3131cd1c0415404c" /><Relationship Type="http://schemas.openxmlformats.org/officeDocument/2006/relationships/notesSlide" Target="/ppt/notesSlides/notesSlide6.xml" Id="R3a777604a5dd43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229e07d3ea433c" /><Relationship Type="http://schemas.openxmlformats.org/officeDocument/2006/relationships/image" Target="/ppt/media/image4.png" Id="R0fe99951fb6546ef" /><Relationship Type="http://schemas.openxmlformats.org/officeDocument/2006/relationships/image" Target="/ppt/media/image5.png" Id="Re9bc7792299b4217" /><Relationship Type="http://schemas.openxmlformats.org/officeDocument/2006/relationships/notesSlide" Target="/ppt/notesSlides/notesSlide7.xml" Id="R681f2bc90a7348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5e61612cb84ff0" /><Relationship Type="http://schemas.openxmlformats.org/officeDocument/2006/relationships/notesSlide" Target="/ppt/notesSlides/notesSlide8.xml" Id="R4a93d033d763462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8628bfe54f469b" /><Relationship Type="http://schemas.openxmlformats.org/officeDocument/2006/relationships/notesSlide" Target="/ppt/notesSlides/notesSlide9.xml" Id="R9abfdbd1195c4f7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6D3457-6EDB-41C8-80E7-6C10C26658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bcaf693c34a6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B0372D-E224-46EC-BA55-83DC05958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ATIVIDADE AVALIATIVA  |  DEVOPS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E1125B-0886-40D7-BC40-E86E032A6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533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EcoActions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7FB64C-B41E-4372-B5D4-DF17A8C2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048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DevOps aplicado a cidades ESG inteligentes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C078E0-F4D4-4391-936A-CE9FBC89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3810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457E2D-70A7-4199-82C7-A2FBCCCE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495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4C95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4C95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4C95D"/>
                </a:solidFill>
                <a:latin typeface="Arial"/>
                <a:ea typeface="Arial"/>
                <a:cs typeface="Arial"/>
              </a:rPr>
              <a:t>Integrante(s): NOME(S) E RM(S)</a:t>
            </a:r>
          </a:p>
          <a:p xmlns:a="http://schemas.openxmlformats.org/drawingml/2006/main">
            <a:pPr algn="l">
              <a:defRPr sz="1275" b="1">
                <a:solidFill>
                  <a:srgbClr val="F4C95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4C95D"/>
                </a:solidFill>
                <a:latin typeface="Arial"/>
                <a:ea typeface="Arial"/>
                <a:cs typeface="Arial"/>
              </a:rPr>
              <a:t>Turma: PREENCHER ANTES DA ENTREGA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60831A-DDC2-4AC7-A829-CEBCD09D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29325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Java 17  |  Spring Boot  |  MongoDB  |  Docker  |  GitHub Actions</a:t>
            </a:r>
          </a:p>
        </p:txBody>
      </p:sp>
    </p:spTree>
    <p:extLst>
      <p:ext uri="{BB962C8B-B14F-4D97-AF65-F5344CB8AC3E}">
        <p14:creationId xmlns:p14="http://schemas.microsoft.com/office/powerpoint/2010/main" val="10350662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D0751E-7583-4780-A9DA-1464DA1B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76DB73-A989-49BA-821A-4F0AF2E6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Problema ESG e proposta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1CE859-EE05-4D01-82F2-C7B9504E7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Gestão rastreável do descarte até a destinação final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D0ABA5-4D88-423F-9409-7773E08B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FBD9D8-9C86-4F80-9E04-8089A7B0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1719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A gestão de resíduos urbanos exige dados consistentes sobre materiais, pontos de coleta e destinações. O EcoActions reúne essas informações em uma API REST e cria alertas quando um ponto precisa de atenção.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5316CE-8275-4371-ABCE-89FB3A8D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A aplicação apoia decisões ambientais sem misturar dados de homologação e produção.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64D553-1C44-440C-B202-421C3A19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543050"/>
            <a:ext cx="567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5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A7C350-F59E-401B-8E86-0AAE77DC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65735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AD7EDD-927F-4B46-8DCE-1DF6240B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6192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Resíduo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4A4917-0CCB-41D0-A8F0-77E728FC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00300"/>
            <a:ext cx="567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5E2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628461-05F1-4F81-A839-29DD3F501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51460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C21778-0E85-4220-8CAE-831B9189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765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203"/>
          </a:bodyPr>
          <a:lstStyle xmlns:a="http://schemas.openxmlformats.org/drawingml/2006/main">
            <a:def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Ponto de</a:t>
            </a:r>
          </a:p>
          <a:p xmlns:a="http://schemas.openxmlformats.org/drawingml/2006/main">
            <a: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coleta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6F1592-CC34-49BB-8D14-296E9B3E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257550"/>
            <a:ext cx="567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5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642A2C-2DBC-454F-9D56-2E6F2366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37185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BA9669-3EF1-4077-A838-7E62CFE47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337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Coleta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B9EE99-A873-454F-B70E-14594D75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114800"/>
            <a:ext cx="567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5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51D11B-42DD-420F-8E29-12D1160D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22910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CF6776-81BF-4CFE-AE07-369B29E1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910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Destinação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AD27B8-6D4F-4619-8044-1413DF0A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972050"/>
            <a:ext cx="567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6F8F1"/>
          </a:solidFill>
          <a:ln xmlns:a="http://schemas.openxmlformats.org/drawingml/2006/main" w="19050">
            <a:solidFill>
              <a:srgbClr val="42D39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F8F580-BC67-4588-9000-B74B700F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08635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BAC044-BAF6-4F1B-811A-E5B6758D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0482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Alerta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B74DFF-FB5A-4887-8CCD-3CCDEE7D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4B4BF6-6169-4D5A-B8FB-1DC234F4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52272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709689-D7CE-4093-A72D-F0ECD9AB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8591DD-10B8-4394-91F0-E313392D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Arquitetura da solução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F520D6-D895-4CA3-8F8E-C6B3A4EC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Aplicação e banco orquestrados pelo Docker Compose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749057-888C-4B67-BD50-F7EAAE394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332136-70DB-4E10-BB14-D7ECE82F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000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2263A"/>
          </a:solidFill>
          <a:ln xmlns:a="http://schemas.openxmlformats.org/drawingml/2006/main" w="0">
            <a:solidFill>
              <a:srgbClr val="1226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F8602-00E7-4F96-BE53-946150DF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76200" rIns="76200" bIns="7620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Cliente HTTP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2E9903-1807-4903-83DE-5117AF4F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57400"/>
            <a:ext cx="28575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87A5A"/>
          </a:solidFill>
          <a:ln xmlns:a="http://schemas.openxmlformats.org/drawingml/2006/main" w="0">
            <a:solidFill>
              <a:srgbClr val="187A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71E482-9771-4E31-AA7E-2638FB8A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57400"/>
            <a:ext cx="2857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76200" rIns="76200" bIns="7620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EcoActions API</a:t>
            </a:r>
          </a:p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Spring Boot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B6356A-91E4-4232-994E-867196D0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333625"/>
            <a:ext cx="2381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256A86"/>
          </a:solidFill>
          <a:ln xmlns:a="http://schemas.openxmlformats.org/drawingml/2006/main" w="0">
            <a:solidFill>
              <a:srgbClr val="256A8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F265A4-E34A-4C71-843E-9CB453540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333625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76200" rIns="76200" bIns="7620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MongoDB 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BC06B6-1DFD-4F56-A9E4-F74BEB2E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600325"/>
            <a:ext cx="118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24004B-DDA9-4B16-B99B-E2A686AF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00325"/>
            <a:ext cx="118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65EF9B-E080-47AC-833A-9ED5E4E5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05050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HTTP Basic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998CE5-AB87-42D4-B8A0-6EDE76E9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05050"/>
            <a:ext cx="102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Spring 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18F983-D367-4832-952D-07BBF83AE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Variáveis de ambiente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D823A2-AFE8-499C-93A0-14B11ADE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1485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Credenciais e portas fora do código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783407-A01F-45C2-AA8F-2CD51AFE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957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Rede dedicada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224601-18F2-44D8-8BE4-4284A876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1485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Comunicação interna entre API e banco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D674D9-6AC5-49CD-9A2F-237614B0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957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Volume persistente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0EB0F5-3313-4A4C-9B1D-AEFCB1C4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51485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Dados preservados entre reinícios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DEB90D-A7DF-4715-A804-D3019DDC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57850"/>
            <a:ext cx="8610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Cada ambiente recebe rede, volume, banco e portas próprios.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42EEF6-3267-4134-B853-064200AC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E03EB4-F84A-4FE5-BB89-8F153A88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742388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37A4DC-A21B-4BE0-A12E-D8A39653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2A3656-6496-4170-B13C-18D0D617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Pipeline CI/CD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B10D3E-CC24-45FD-B5EA-58C1766D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GitHub Actions bloqueia a promoção quando build, testes ou health check falham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02079D-AB58-4038-ABDA-0A36BB08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16CCB0-1C96-437C-872B-E6BF1C7D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Pull request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E2664-CCBA-4DF7-95E0-58F67431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build, testes e imagem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8A1663-DF8E-41CB-A93D-84AF5BBB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5811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main ou execução manual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2BB52-63D8-4C94-8708-0EC2CD4D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8595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27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CI completa e deploy sequencial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7BF295-636F-480F-843B-6DE7C21B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2476500" cy="26289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D1B2A"/>
          </a:solidFill>
          <a:ln xmlns:a="http://schemas.openxmlformats.org/drawingml/2006/main" w="19050">
            <a:solidFill>
              <a:srgbClr val="38BD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F31252-4BF9-4B86-9790-2C147DBD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C23574-4C71-475A-833E-48FA078B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Build e testes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DCF85F-FAF5-4E1C-B39E-AF58B7E6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2057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Java 17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Maven Verify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9 testes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B03A0B-090F-42A7-BB61-2AA8E454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28900"/>
            <a:ext cx="2476500" cy="26289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D1B2A"/>
          </a:solidFill>
          <a:ln xmlns:a="http://schemas.openxmlformats.org/drawingml/2006/main" w="19050">
            <a:solidFill>
              <a:srgbClr val="38BDF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AFACA9-C494-4B82-9006-F0607C63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1940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B5188B-F75A-41CD-947B-238D9EA7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3718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Imagem Docker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674040-550A-4B0D-8F79-388E4E38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57650"/>
            <a:ext cx="2057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Build multi-stage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Artefato imutável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Usuário não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D59CE9-4528-44D9-8A96-D374F42B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28900"/>
            <a:ext cx="2476500" cy="26289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D1B2A"/>
          </a:solidFill>
          <a:ln xmlns:a="http://schemas.openxmlformats.org/drawingml/2006/main" w="19050">
            <a:solidFill>
              <a:srgbClr val="42D39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A2301B-1B65-4D8E-A597-7A226F05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1940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7621AB-B08F-4E77-9D60-26FA39FF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718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Staging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C08E30-F4F3-4E7E-8D5C-7D58940C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57650"/>
            <a:ext cx="2057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Docker Compose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Health check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Porta 8081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CFE58B-0B79-4C1E-967A-6F5D1D46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28900"/>
            <a:ext cx="2476500" cy="26289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D1B2A"/>
          </a:solidFill>
          <a:ln xmlns:a="http://schemas.openxmlformats.org/drawingml/2006/main" w="19050">
            <a:solidFill>
              <a:srgbClr val="42D39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763971-E8C9-4D05-A56F-34FF1251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1940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B8D6D-4B9A-4699-AD1A-A28F308C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3718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Produção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F866FE-7D30-41B3-8481-A9A0E3667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57650"/>
            <a:ext cx="2057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Mesma imagem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Após staging</a:t>
            </a:r>
          </a:p>
          <a:p xmlns:a="http://schemas.openxmlformats.org/drawingml/2006/main">
            <a:pPr algn="l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Porta 8082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2A7081-BAE1-4D24-B2D7-2296CD69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753100"/>
            <a:ext cx="769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4C95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4C9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4C95D"/>
                </a:solidFill>
                <a:latin typeface="Arial"/>
                <a:ea typeface="Arial"/>
                <a:cs typeface="Arial"/>
              </a:rPr>
              <a:t>Produção depende do deploy de staging aprovado.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801149-9323-4E1C-82A7-45218971F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9BA055-DDA1-4196-A3A7-43CD1FD0E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876912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4A0062-C47A-48AA-8B93-A0772E39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2D4B59-DBBB-42C7-9DEC-D348443B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Containerização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94E9FC-02C2-48C1-A702-AE89CE66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A imagem final contém somente o necessário para executar a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94C9B6-4727-47F2-9942-24875268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35EB5B-6CB6-4DD5-8940-E5D6962E3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Dockerfile multi-stage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CAE1D7-A399-46AF-A46F-E1BF36D8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3714750" cy="316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Build</a:t>
            </a:r>
          </a:p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JDK 17 e Maven Wrapper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Runtime</a:t>
            </a:r>
          </a:p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JRE 17 e JAR da aplicação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Segurança</a:t>
            </a:r>
          </a:p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Usuário spring:spring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Operação</a:t>
            </a:r>
          </a:p>
          <a:p xmlns:a="http://schemas.openxmlformats.org/drawingml/2006/main">
            <a:pPr algn="l">
              <a:defRPr sz="1575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Health check em /api/health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40576E-8758-407D-84ED-21FFDE19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docker build --tag ecoactions-api:local 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4745A3-5A4B-4F20-BD35-05499BAD9E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d1841250844dc"/>
          <a:stretch xmlns:a="http://schemas.openxmlformats.org/drawingml/2006/main"/>
        </p:blipFill>
        <p:spPr>
          <a:xfrm xmlns:a="http://schemas.openxmlformats.org/drawingml/2006/main">
            <a:off x="4810125" y="1721346"/>
            <a:ext cx="6715125" cy="3777258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0A4015-9E18-4705-91F5-1EB53891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5810250"/>
            <a:ext cx="481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Fonte: execução local registrada em docs/evidencias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C114E1-EA5B-4274-BE7C-291D51A0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3899D2-D254-4F43-BA46-59029DC5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939367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C35063-416D-480B-9DC5-AE32757A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56EF0D-DF48-4466-BCC1-68876053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Execução real do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AA809D-ECA0-466A-B887-C8B41AEA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GitHub Actions concluiu build, testes, imagem Docker e os dois deploys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651CBA-40A8-422A-A130-8BAF815570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31cd1c0415404c"/>
          <a:stretch xmlns:a="http://schemas.openxmlformats.org/drawingml/2006/main"/>
        </p:blipFill>
        <p:spPr>
          <a:xfrm xmlns:a="http://schemas.openxmlformats.org/drawingml/2006/main">
            <a:off x="594675" y="1409700"/>
            <a:ext cx="11002651" cy="3286125"/>
          </a:xfrm>
          <a:prstGeom xmlns:a="http://schemas.openxmlformats.org/drawingml/2006/main" prst="roundRect">
            <a:avLst>
              <a:gd name="adj" fmla="val 3478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DAFD29-7746-414A-86E3-31B3353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Build e testes: 34s. Imagem Docker: 50s. Staging: 31s. Produção: 32s.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A6BBE8-9C01-4CBA-9732-1C747671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292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Status final: Success. Duração total: 2m40s. Execução #1 na branch main.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9C8CF9-9435-421E-B68E-588D4A3D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5315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Fonte: github.com/Gabriel-Morais102/ecoactions-api/actions/runs/38076926404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CFB80C-5D2A-4EBC-A86B-E8DBE4DF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221669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801596-4061-4591-B183-7A19A7FC7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1B679D-8586-4760-9483-85608D09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Staging e produção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51C8F1-CBEE-4E00-A6AE-403EB900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Jobs reais executados em sequência pelo GitHub Actions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C25209-3849-481F-A001-65E53DCA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7047E8-CEBF-40BB-8CF3-DC79F33922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e99951fb6546ef"/>
          <a:stretch xmlns:a="http://schemas.openxmlformats.org/drawingml/2006/main"/>
        </p:blipFill>
        <p:spPr>
          <a:xfrm xmlns:a="http://schemas.openxmlformats.org/drawingml/2006/main">
            <a:off x="495300" y="1478836"/>
            <a:ext cx="5476875" cy="3881279"/>
          </a:xfrm>
          <a:prstGeom xmlns:a="http://schemas.openxmlformats.org/drawingml/2006/main" prst="roundRect">
            <a:avLst>
              <a:gd name="adj" fmla="val 2927"/>
            </a:avLst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7376B3-31AF-4270-9BB1-51014A729A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bc7792299b4217"/>
          <a:stretch xmlns:a="http://schemas.openxmlformats.org/drawingml/2006/main"/>
        </p:blipFill>
        <p:spPr>
          <a:xfrm xmlns:a="http://schemas.openxmlformats.org/drawingml/2006/main">
            <a:off x="6219825" y="1478836"/>
            <a:ext cx="5476875" cy="3881279"/>
          </a:xfrm>
          <a:prstGeom xmlns:a="http://schemas.openxmlformats.org/drawingml/2006/main" prst="roundRect">
            <a:avLst>
              <a:gd name="adj" fmla="val 292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F9A79F-D293-45C3-A6F4-7C1919E0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STAGING · 31s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DA4443-4EA6-4359-B0BF-0BEB747A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Health check aprovado antes da promoção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6D112D-ED22-4FAB-964B-F35BA05D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54673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PRODUÇÃO · 32s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335879-91D1-481F-AECE-F5D0AB43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57912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Executado somente após staging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C745D7-06DC-4838-B874-BA36AF17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BC1970-1C6A-4C59-9DE9-91F25F00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7449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F66435-3C99-409F-97C0-0BFE9731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A8DAC2-49BF-4528-9E3F-16D2F6AE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Desafios encontrados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6D82DA-6BD5-46E5-8047-7D4690943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Ajustes simples tornaram o ambiente previsível e demonstrável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4C068D-1CE1-4A2F-ABA3-C1826107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0F6A49-C397-4C69-AFE9-484EA563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EF6A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EF6A6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F6A6A"/>
                </a:solidFill>
                <a:latin typeface="Arial"/>
                <a:ea typeface="Arial"/>
                <a:cs typeface="Arial"/>
              </a:rPr>
              <a:t>Desafio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91322C-6BD5-4B18-AACB-6B1FB28C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5811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Solução adotada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B787B6-ADF4-4546-93FB-946EA6900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352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API podia iniciar antes do MongoDB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0526EE-2BF1-4D9B-8B5A-C7D7D1C2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14550"/>
            <a:ext cx="619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Health check do banco e depends_on com condição saudável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D7551A-1EF7-4C8E-9A17-4596166A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1042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2EC"/>
          </a:solidFill>
          <a:ln xmlns:a="http://schemas.openxmlformats.org/drawingml/2006/main" w="0">
            <a:solidFill>
              <a:srgbClr val="D5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F647E3-D125-491A-A220-DB9E5043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352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Credenciais estavam acopladas à configuração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622202-996B-4114-974F-70F04559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67050"/>
            <a:ext cx="619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Variáveis de ambiente, arquivos .example e proteção no .gitignore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BAAAAE-5E8D-49AB-A488-6C09D109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1042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2EC"/>
          </a:solidFill>
          <a:ln xmlns:a="http://schemas.openxmlformats.org/drawingml/2006/main" w="0">
            <a:solidFill>
              <a:srgbClr val="D5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0CFA46-F884-45D1-9118-3B408286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352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Staging e produção compartilhariam recursos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DD52EC-3C36-4F70-BCA0-B53B04FF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19550"/>
            <a:ext cx="619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Projetos Compose distintos com redes, volumes, bancos e portas separados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B3FC61-9B84-42DA-90DA-D072ACD8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81550"/>
            <a:ext cx="1042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2EC"/>
          </a:solidFill>
          <a:ln xmlns:a="http://schemas.openxmlformats.org/drawingml/2006/main" w="0">
            <a:solidFill>
              <a:srgbClr val="D5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38A0F4-AFCB-4F63-BF9D-295B7954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352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Carga inicial usava um banco fixo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DA1F36-96AB-463D-90E9-2E2CF061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972050"/>
            <a:ext cx="619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Script passou a respeitar MONGO_INITDB_DATABASE em todos os ambientes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9760C6-37B1-443F-B0DB-E6F52B0A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992FE2-8887-49B5-B298-63580091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320781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C24E86-C06B-4FEA-B02A-BD32B1FC8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D46234-9531-4FB0-A505-FBB6392ED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Checklist da entrega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D11A32-062E-46F7-BFD6-BE10EC54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Situação após publicação, execução do pipeline e atualização das evidências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932C68-3569-4015-BEC1-A3606647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C60DEB-E5A4-42A5-8E14-1AE7F5D38970}"/>
              </a:ext>
            </a:extLst>
          </p:cNvPr>
          <p:cNvGraphicFramePr/>
          <p:nvPr/>
        </p:nvGraphicFramePr>
        <p:xfrm>
          <a:off xmlns:a="http://schemas.openxmlformats.org/drawingml/2006/main" x="857250" y="1562100"/>
          <a:ext xmlns:a="http://schemas.openxmlformats.org/drawingml/2006/main" cx="104775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239250"/>
                <a:gridCol w="1238250"/>
              </a:tblGrid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Item</a:t>
                      </a:r>
                    </a:p>
                  </a:txBody>
                  <a:tcPr marL="91440" marR="91440" marT="45720" marB="45720" anchor="ctr">
                    <a:solidFill>
                      <a:srgbClr val="12263A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OK</a:t>
                      </a:r>
                    </a:p>
                  </a:txBody>
                  <a:tcPr marL="91440" marR="91440" marT="45720" marB="45720" anchor="ctr">
                    <a:solidFill>
                      <a:srgbClr val="12263A"/>
                    </a:solidFill>
                  </a:tcPr>
                </a:tc>
              </a:tr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Projeto compactado em ZIP com estrutura organizada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Dockerfile funcional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</a:tr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docker-compose.yml com volume, rede e variáveis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Pipeline com build, testes e deploy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</a:tr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README com instruções e prints do GitHub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Documentação técnica com evidências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</a:tr>
              <a:tr h="49530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Deploy realizado em staging e produção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F457B8-2BCB-4DBF-8A34-B454ADBB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1025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F4C95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F4C95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4C95D"/>
                </a:solidFill>
                <a:latin typeface="Arial"/>
                <a:ea typeface="Arial"/>
                <a:cs typeface="Arial"/>
              </a:rPr>
              <a:t>Antes do envio: preencher os nomes e a turma na capa e no README.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C9E890-9461-4B8E-B7D5-8336A799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824EC5-8390-4FDF-8E9E-39268B1B6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434875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2026-10-10T18:52:33.2440000Z</dcterms:created>
  <dcterms:modified xsi:type="dcterms:W3CDTF">2026-10-10T18:52:33.2440000Z</dcterms:modified>
</coreProperties>
</file>